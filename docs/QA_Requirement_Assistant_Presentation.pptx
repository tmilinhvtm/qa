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1677FF"/>
                </a:solidFill>
              </a:defRPr>
            </a:pPr>
            <a:r>
              <a:t>CHIẾN LƯỢC ỨNG DỤNG AI TRONG KIỂM THỬ PHẦN MỀM (AI-DRIVEN QA LEAD)</a:t>
            </a:r>
          </a:p>
          <a:p>
            <a:pPr>
              <a:spcAft>
                <a:spcPts val="1800"/>
              </a:spcAft>
              <a:defRPr sz="3000" b="1">
                <a:solidFill>
                  <a:srgbClr val="FFFFFF"/>
                </a:solidFill>
              </a:defRPr>
            </a:pPr>
            <a:r>
              <a:t>Tối Ưu Năng Suất (Effort) &amp; Đảm Bảo Tính Đúng Đắn</a:t>
            </a:r>
            <a:br/>
            <a:r>
              <a:t>Bộ Dữ Liệu QA Bằng Tác Tử AI Trong 3 Tháng</a:t>
            </a:r>
          </a:p>
          <a:p>
            <a:pPr>
              <a:spcAft>
                <a:spcPts val="3600"/>
              </a:spcAft>
              <a:defRPr sz="1500">
                <a:solidFill>
                  <a:srgbClr val="94A3B8"/>
                </a:solidFill>
              </a:defRPr>
            </a:pPr>
            <a:r>
              <a:t>Mô hình thực chiến: Antigravity Native Plugin • 2-Phase State Machine • 3 Tầng Kiểm Chứng Sâu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Ứng viên: Vũ Thị Mai Linh  |  Vị trí: AI QA Specialist / Senior QA Engineer  |  Tháng 10/2026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20640"/>
            <a:ext cx="996696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677FF"/>
                </a:solidFill>
              </a:defRPr>
            </a:pPr>
            <a:r>
              <a:t>🎯 MỤC TIÊU 90 NGÀY CAM KẾT VỚI DOANH NGHIỆP: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1. Nâng Effort (Throughput) Team lên gấp 2.5x  •  2. Độ Chính Xác (Accuracy/Ground Truth) Bộ Dữ Liệu Đầu Ra ≥ 92%  •  3. Giảm 50% Defect Lọt Sang Dev/Prod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E6F4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958D9"/>
                </a:solidFill>
              </a:defRPr>
            </a:pPr>
            <a:r>
              <a:t>1. PROBLEM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Bối Cảnh &amp; Bài Toán Cốt Lõi: Năng Suất (Effort) vs. Độ Đúng Sai Dữ Liệu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Vì sao các giải pháp AI Test Case thông thường đều thất bại và tiêu chuẩn mới của chúng ta là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E11D48"/>
                </a:solidFill>
              </a:defRPr>
            </a:pPr>
            <a:r>
              <a:t>🚨 NỖI ĐAU EFFORT HIỆN TẠI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60-70% Thời gian QA bị chôn vào việc đọc requirement mập mờ và gõ test case thủ công lặp lại.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Năng suất thấp: Trung bình 1 QA chỉ phân tích được 2-3 User Stories phức tạp mỗi sprint.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Thiếu chiều sâu kỹ thuật: Bỏ sót các lỗi rủi ro kiến trúc cao (Race Condition, State Drift, Timeout).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Tắc nghẽn bàn giao: Dev chờ Test Case, QA chờ BA chốt yêu cầu, kéo dài lead-time release.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D97706"/>
                </a:solidFill>
              </a:defRPr>
            </a:pPr>
            <a:r>
              <a:t>⚠️ BẪY 'ẢO GIÁC' CỦA AI CHUNG CHUNG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Vấn đề 'Garbage In - Garbage Out': Requirement thiếu ngữ cảnh dẫn đến test case sinh ra sai hoàn toàn.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Ảo giác (Hallucination): Tự bịa API endpoint, tự suy diễn quy tắc sai so với luồng nghiệp vụ thực tế.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Gộp cụm hành động (Action Bundling): Dồn chọn số lượng + thanh toán + click vào 1 bước, dev không thể chạy Automation.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Kỳ vọng chung chung: Chỉ ghi 'Verify HTTP 200' mà không có JSON Body hay thay đổi dữ liệu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E6F4FF"/>
          </a:solidFill>
          <a:ln w="190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958D9"/>
                </a:solidFill>
              </a:defRPr>
            </a:pPr>
            <a:r>
              <a:t>✨ GIẢI PHÁP ĐỘT PHÁ CỦA REPO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✔ Strict 2-Phase State Machine: Chặn cổng duyệt người (Human Gate 1), yêu cầu chốt logic trước khi sinh test.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✔ 3 Nguyên Tắc Vàng QA/QC: Step Disaggregation (Tách bước) + 3 Tầng kiểm chứng sâu (UI/API Body/DB State).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✔ Anchoring Kho Bug Thực Tế: Đối chiếu 10 Bug Production Patterns chuẩn hóa chống ảo giác.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✔ Local-First &amp; Drive Sync: Lưu trữ tích lũy (Append-Only) và đẩy lên Google Sheets Enterprise thời gian thực.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E6F4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958D9"/>
                </a:solidFill>
              </a:defRPr>
            </a:pPr>
            <a:r>
              <a:t>2. ARCHITECTURE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Kiến Trúc Tác Tử: 2-Phase State Machine &amp; Human Gates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Hệ thống Native Plugin không cần Backend cồng kềnh - Vận hành bằng Orchestrator và 2 Subagents độc lập.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00" b="1">
                <a:solidFill>
                  <a:srgbClr val="1677FF"/>
                </a:solidFill>
              </a:defRPr>
            </a:pPr>
            <a:r>
              <a:t>🔄 QUY TRÌNH ĐIỀU PHỐI 2 PHA NGHIÊM NGẶT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BƯỚC 0: PRE-FLIGHT CACHE VALIDATION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Kiểm tra Drive modifiedTime vs .sync_metadata.json. Offline Fallback tự động khi mất mạng.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PHASE 1: STATIC ANALYSIS (req-risk-analyst)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Bóc tách 4 thành tố Business Rules • Đặt câu hỏi phản biện BA • Quét 5 rủi ro kỹ thuật sâu • Đối chiếu 10 Bug lịch sử.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🛑 HUMAN GATE 1 (CỔNG KIỂM SOÁT 1)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BẮT BUỘC DỪNG! Tester duyệt &amp; tinh chỉnh logic. Rollback ngay nếu requirement thay đổi.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PHASE 2: TEST DESIGN (test-automation-architect)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Sinh 5 kịch bản chuẩn: Happy Path, Boundary, Negative, Concurrency (≤50ms), State Conflict &amp; Recovery.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🛑 HUMAN GATE 2 &amp; SYNC CLOUD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Tester xác nhận kịch bản -&gt; Append vào local JSON -&gt; Đẩy lên Google Sheets Master qua MCP.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0958D9"/>
                </a:solidFill>
              </a:defRPr>
            </a:pPr>
            <a:r>
              <a:t>🤖 PHÂN QUYỀN TÁC TỬ &amp; BỘ NHỚ GÓC NHÌN</a:t>
            </a:r>
          </a:p>
          <a:p>
            <a:pPr>
              <a:defRPr sz="1100" b="1">
                <a:solidFill>
                  <a:srgbClr val="0958D9"/>
                </a:solidFill>
              </a:defRPr>
            </a:pPr>
            <a:r>
              <a:t>🔹 Subagent 1: req-risk-analyst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Đảm nhiệm Static Analysis. Tham chiếu risk-checklist.md bao gồm 5 góc khuất: Concurrency, State Drift, Clock Drift, Non-Idempotency, Distributed Transaction Failure. Tuyệt đối không sinh test case.</a:t>
            </a:r>
          </a:p>
          <a:p>
            <a:pPr>
              <a:defRPr sz="1100" b="1">
                <a:solidFill>
                  <a:srgbClr val="0958D9"/>
                </a:solidFill>
              </a:defRPr>
            </a:pPr>
            <a:r>
              <a:t>🔹 Subagent 2: test-automation-architect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Chỉ được kích hoạt khi Phase 1 đã duyệt. Áp dụng test-design-matrix.md để xếp hạng độ ưu tiên P1/P2/P3 và mô tả chi tiết bước giả lập 3 tầng.</a:t>
            </a:r>
          </a:p>
          <a:p>
            <a:pPr>
              <a:defRPr sz="1100" b="1">
                <a:solidFill>
                  <a:srgbClr val="0958D9"/>
                </a:solidFill>
              </a:defRPr>
            </a:pPr>
            <a:r>
              <a:t>🔹 Bộ nhớ góc nhìn (Perspective Persistence)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Lưu tại user_preferences.json: Hỗ trợ 3 chế độ: 'business' (ngôn ngữ đời sống trực quan cho BA), 'technical' (thuật ngữ SDET chuyên sâu), 'hybrid'. Tự động ghi nhớ qua các phiên.</a:t>
            </a:r>
          </a:p>
          <a:p>
            <a:pPr>
              <a:defRPr sz="1100" b="1">
                <a:solidFill>
                  <a:srgbClr val="0958D9"/>
                </a:solidFill>
              </a:defRPr>
            </a:pPr>
            <a:r>
              <a:t>🔹 Cơ chế Progressive Disclosure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Tối ưu hóa Token &amp; Context Window: Cẩm nang kỹ thuật được chia nhỏ vào thư mục references/ thay vì nhồi nhét vào prompt chính, tránh làm loãng context.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E6F4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958D9"/>
                </a:solidFill>
              </a:defRPr>
            </a:pPr>
            <a:r>
              <a:t>3. QUALITY &amp; ACCURACY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Khung Đánh Giá &amp; Kiểm Định Độ Đúng Sai Của Dữ Liệu Đầu Ra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Làm thế nào để đo lường, kiểm soát ảo giác và đảm bảo dữ liệu sinh ra đạt chuẩn kiểm thử thực tế?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SEMANTIC ACCURACY</a:t>
            </a:r>
          </a:p>
          <a:p>
            <a:pPr>
              <a:defRPr sz="2200" b="1">
                <a:solidFill>
                  <a:srgbClr val="1677FF"/>
                </a:solidFill>
              </a:defRPr>
            </a:pPr>
            <a:r>
              <a:t>≥ 92%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Tính đúng đắn logic &amp; quy tắc nghiệp vụ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SCHEMA VALIDITY</a:t>
            </a:r>
          </a:p>
          <a:p>
            <a:pPr>
              <a:defRPr sz="2200" b="1">
                <a:solidFill>
                  <a:srgbClr val="16A34A"/>
                </a:solidFill>
              </a:defRPr>
            </a:pPr>
            <a:r>
              <a:t>100%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Chuẩn 3 tầng UI/API Body/DB &amp; Disaggregation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95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RISK COVERAGE</a:t>
            </a:r>
          </a:p>
          <a:p>
            <a:pPr>
              <a:defRPr sz="2200" b="1">
                <a:solidFill>
                  <a:srgbClr val="0958D9"/>
                </a:solidFill>
              </a:defRPr>
            </a:pPr>
            <a:r>
              <a:t>100%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Bao phủ đủ 5 nhóm kịch bản &amp; 5 góc khuất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HALLUCINATION</a:t>
            </a:r>
          </a:p>
          <a:p>
            <a:pPr>
              <a:defRPr sz="2200" b="1">
                <a:solidFill>
                  <a:srgbClr val="E11D48"/>
                </a:solidFill>
              </a:defRPr>
            </a:pPr>
            <a:r>
              <a:t>&lt; 5%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Tỷ lệ suy diễn sai lệch so với requirement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52120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1677FF"/>
                </a:solidFill>
              </a:defRPr>
            </a:pPr>
            <a:r>
              <a:t>💎 3 NGUYÊN TẮC VÀNG CHUẨN QA/QC THỰC CHIẾN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1. Step Disaggregation (Không gom cụm hành động):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Tách biệt hoàn toàn bước chuẩn bị dữ liệu (nhập input/chọn option) và bước kích hoạt (submit). Đưa tiền đề vào Pre-conditions để Automation chạy ổn định.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2. Synchronized Deep Verification (Kiểm chứng sâu 3 tầng):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UI: Thông báo, highlight, ID hiển thị.</a:t>
            </a:r>
            <a:br/>
            <a:r>
              <a:t>API: HTTP Status + trường cụ thể trong Response Body (ví dụ: order_id khớp UI).</a:t>
            </a:r>
            <a:br/>
            <a:r>
              <a:t>DB &amp; Broker: Tên bảng, tên cột, giá trị cập nhật và Kafka event phát ra.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3. Trạng thái thực thi rõ ràng (Execution Status):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Mặc định là NOT_RUN kèm dropdown Pass/Fail/Blocked và Conditional Formatting giúp theo dõi tiến độ trực quan.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63240"/>
            <a:ext cx="52120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D9488"/>
                </a:solidFill>
              </a:defRPr>
            </a:pPr>
            <a:r>
              <a:t>🛡️ CƠ CHẾ ĐẢM BẢO CHẤT LƯỢNG DỮ LIỆU ĐẦU RA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Anchor bằng Ground Truth (Kho 10 Bug Lịch Sử):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Agent luôn đối chiếu rủi ro với các bug thực chiến đã xảy ra trên hệ thống (BUG-001 đến BUG-010), buộc AI căn cứ vào bài học thực tế thay vì suy diễn viển vông.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Syntactic &amp; Schema Validator: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Quy chuẩn kiểm tra tự động: Mọi test case thiếu bảng DB hoặc thiếu trường API Response Body đều bị từ chối trước khi hiển thị cho Tester.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Human-in-the-Loop Feedback Loop: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Tester là 'Quality Gatekeeper' cuối cùng. Mọi câu hỏi BA và rủi ro được Tester xác nhận, tạo dữ liệu chuẩn xác cho Phase 2 sinh kịch bản.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Traceability Không Rời Rạc: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Khóa ngoại requirement_id kết nối xuyên suốt từ bảng Phân tích Yêu cầu sang bảng Kịch bản Test, đảm bảo 100% test case đều truy vết được nguồn gốc.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E6F4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958D9"/>
                </a:solidFill>
              </a:defRPr>
            </a:pPr>
            <a:r>
              <a:t>4. EXPERIMENTAL PROOF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Minh Chứng Thực Nghiệm: Bắt Lỗ Hổng &amp; Tự Nắn Chỉnh Qua Thực Tế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Bằng chứng cụ thể từ Repo: Những điểm làm tốt, sai sót ban đầu được phát hiện và khắc phục ra sao.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834640"/>
                <a:gridCol w="2926080"/>
                <a:gridCol w="2926080"/>
              </a:tblGrid>
              <a:tr h="11658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TIÊU CHÍ ĐÁNH GIÁ</a:t>
                      </a:r>
                    </a:p>
                  </a:txBody>
                  <a:tcPr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REQ A: KHÓA TÀI KHOẢN (Auth)</a:t>
                      </a:r>
                    </a:p>
                  </a:txBody>
                  <a:tcPr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REQ B: CHỐNG BÁN ÂM KHO (Inventory)</a:t>
                      </a:r>
                    </a:p>
                  </a:txBody>
                  <a:tcPr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REQ C: VOUCHER 1 LẦN (Promotion)</a:t>
                      </a:r>
                    </a:p>
                  </a:txBody>
                  <a:tcPr>
                    <a:solidFill>
                      <a:srgbClr val="1677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958D9"/>
                          </a:solidFill>
                        </a:defRPr>
                      </a:pPr>
                      <a:r>
                        <a:t>Điểm làm tốt nổi bật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Phát hiện kẽ hở Force Logout / Thu hồi Token tức thì trên thiết bị khác.</a:t>
                      </a:r>
                      <a:br/>
                      <a:r>
                        <a:t>• Đặt câu hỏi Sliding Window đếm sai.</a:t>
                      </a:r>
                      <a:br/>
                      <a:r>
                        <a:t>• Liên kết BUG-001, BUG-003, BUG-008.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Phân biệt rõ Tồn kho vật lý vs Tồn kho khả dụng (Holding Window).</a:t>
                      </a:r>
                      <a:br/>
                      <a:r>
                        <a:t>• Thiết kế test Concurrency: 2 user tranh mua 1 hàng cuối (N=1) trong ≤50ms.</a:t>
                      </a:r>
                      <a:br/>
                      <a:r>
                        <a:t>• Ánh xạ BUG-005, BUG-007.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Bóc tách trọn vẹn Vòng đời Voucher &amp; Giao dịch bù trừ (Compensating Transaction) khi hủy đơn/timeout.</a:t>
                      </a:r>
                      <a:br/>
                      <a:r>
                        <a:t>• Bắt lỗi Race condition 2 tab đồng thời.</a:t>
                      </a:r>
                      <a:br/>
                      <a:r>
                        <a:t>• Ánh xạ BUG-003 chuẩn 100%.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958D9"/>
                          </a:solidFill>
                        </a:defRPr>
                      </a:pPr>
                      <a:r>
                        <a:t>Sai sót ban đầu phát hiện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Lạm dụng thuật ngữ hàn lâm (Lost Update, Redis INCR) khiến BA khó hiểu.</a:t>
                      </a:r>
                      <a:br/>
                      <a:r>
                        <a:t>• Bố cục dạng khối văn bản dài (Text Wall).</a:t>
                      </a:r>
                      <a:br/>
                      <a:r>
                        <a:t>• Bỏ sót kiểm tra Token trên service vệ tinh.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Gom cụm hành động: dồn chọn số lượng + checkout vào 1 bước.</a:t>
                      </a:r>
                      <a:br/>
                      <a:r>
                        <a:t>• Kỳ vọng API/DB sơ sài (chỉ ghi HTTP 200/400, không chỉ rõ tên bảng/cột).</a:t>
                      </a:r>
                      <a:br/>
                      <a:r>
                        <a:t>• Bảng Sheets ban đầu bị co rúm, xấu.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Bỏ sót chính sách hoàn tiền 1 phần khi mua nhiều món có áp voucher.</a:t>
                      </a:r>
                      <a:br/>
                      <a:r>
                        <a:t>• Bỏ sót nguy cơ kẹt voucher vĩnh viễn ở trạng thái tạm khóa (RESERVED) nếu cronjob timeout chết.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958D9"/>
                          </a:solidFill>
                        </a:defRPr>
                      </a:pPr>
                      <a:r>
                        <a:t>Cải tiến Prompt &amp;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Thêm cấu hình user_preferences.json ghi nhớ góc nhìn (business vs technical).</a:t>
                      </a:r>
                      <a:br/>
                      <a:r>
                        <a:t>• Tái cấu trúc sang dạng Thẻ &amp; Bảng Ma trận.</a:t>
                      </a:r>
                      <a:br/>
                      <a:r>
                        <a:t>• Bổ sung kịch bản kiểm tra Event thu hồi Token.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Đưa 3 Nguyên Tắc Vàng vào prompt &amp; AGENTS.md (Tách bước, Verify 3 tầng).</a:t>
                      </a:r>
                      <a:br/>
                      <a:r>
                        <a:t>• Viết script Styler Ant Design Blue tự động định dạng Sheets, thêm Dropdown Status.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• Mở rộng risk-checklist.md thêm rủi ro Lifecycle Reversal &amp; Partial Refund.</a:t>
                      </a:r>
                      <a:br/>
                      <a:r>
                        <a:t>• Bổ sung kịch bản kiểm chứng khôi phục voucher tự động khi hết hạn giữ chỗ.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E6F4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958D9"/>
                </a:solidFill>
              </a:defRPr>
            </a:pPr>
            <a:r>
              <a:t>5. THE 90-DAY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Lộ Trình 3 Tháng: Nâng 2.5x Effort Của Team QA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Kế hoạch triển khai thực chiến từng giai đoạn để biến AI thành bệ phóng năng suất cho toàn bộ QA Team.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677FF"/>
                </a:solidFill>
              </a:defRPr>
            </a:pPr>
            <a:r>
              <a:t>THÁNG 1: FOUNDATION &amp; BASELINE</a:t>
            </a:r>
          </a:p>
          <a:p>
            <a:pPr>
              <a:spcAft>
                <a:spcPts val="800"/>
              </a:spcAft>
              <a:defRPr sz="1300" b="1">
                <a:solidFill>
                  <a:srgbClr val="1E293B"/>
                </a:solidFill>
              </a:defRPr>
            </a:pPr>
            <a:r>
              <a:t>Chuẩn Hóa Quy Trình &amp; Pilot Thử Nghiệm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Xây dựng Golden Dataset: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Chuẩn bị 50 User Stories thực tế kèm kịch bản mẫu của dự án làm thước đo Ground Truth.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Đóng gói Agentic Plugin: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Cài đặt bộ Rules, Skills, Subagents cho 1 Scrum Team (3-5 QA) thử nghiệm.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Training &amp; Guideline: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Đào tạo QA cách review Phase 1, chất vấn BA và phê duyệt kịch bản giả lập.</a:t>
            </a:r>
          </a:p>
          <a:p>
            <a:pPr>
              <a:defRPr sz="1000" b="1">
                <a:solidFill>
                  <a:srgbClr val="0958D9"/>
                </a:solidFill>
              </a:defRPr>
            </a:pPr>
            <a:r>
              <a:t>• 🎯 KPI Tháng 1:</a:t>
            </a:r>
          </a:p>
          <a:p>
            <a:pPr>
              <a:spcAft>
                <a:spcPts val="400"/>
              </a:spcAft>
              <a:defRPr sz="900">
                <a:solidFill>
                  <a:srgbClr val="16A34A"/>
                </a:solidFill>
              </a:defRPr>
            </a:pPr>
            <a:r>
              <a:t>• Độ chính xác dữ liệu ≥ 85%</a:t>
            </a:r>
            <a:br/>
            <a:r>
              <a:t>• Giảm 40% thời gian viết test case</a:t>
            </a:r>
            <a:br/>
            <a:r>
              <a:t>• Bắt sớm ít nhất 5 lỗi logic ngay khâu review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THÁNG 2: INTEGRATION &amp; SCALING</a:t>
            </a:r>
          </a:p>
          <a:p>
            <a:pPr>
              <a:spcAft>
                <a:spcPts val="800"/>
              </a:spcAft>
              <a:defRPr sz="1300" b="1">
                <a:solidFill>
                  <a:srgbClr val="1E293B"/>
                </a:solidFill>
              </a:defRPr>
            </a:pPr>
            <a:r>
              <a:t>Tích Hợp Hệ Sinh Thái &amp; Mở Rộng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Tích hợp Jira / Xray MCP: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Kết nối trực tiếp Jira để đọc Story Description và sync ngược Test Cases lên Xray/TestRail.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Cơ chế Feedback Loop: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Thêm tính năng Upvote/Downvote test case để liên tục nắn chỉnh Prompt theo văn hóa công ty.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Mở rộng ra toàn bộ QA Team: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Áp dụng cho 10-15 QA trên toàn bộ các squad.</a:t>
            </a:r>
          </a:p>
          <a:p>
            <a:pPr>
              <a:defRPr sz="1000" b="1">
                <a:solidFill>
                  <a:srgbClr val="0D9488"/>
                </a:solidFill>
              </a:defRPr>
            </a:pPr>
            <a:r>
              <a:t>• 🎯 KPI Tháng 2:</a:t>
            </a:r>
          </a:p>
          <a:p>
            <a:pPr>
              <a:spcAft>
                <a:spcPts val="400"/>
              </a:spcAft>
              <a:defRPr sz="900">
                <a:solidFill>
                  <a:srgbClr val="16A34A"/>
                </a:solidFill>
              </a:defRPr>
            </a:pPr>
            <a:r>
              <a:t>• Độ chính xác dữ liệu ≥ 92%</a:t>
            </a:r>
            <a:br/>
            <a:r>
              <a:t>• Giảm 60% lead-time phân tích &amp; test design</a:t>
            </a:r>
            <a:br/>
            <a:r>
              <a:t>• Tăng gấp 3 lần số kịch bản Concurrency &amp; Edge-case được bao phủ.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E6F4FF"/>
          </a:solidFill>
          <a:ln w="190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958D9"/>
                </a:solidFill>
              </a:defRPr>
            </a:pPr>
            <a:r>
              <a:t>THÁNG 3: AUTONOMOUS MULTIPLIER</a:t>
            </a:r>
          </a:p>
          <a:p>
            <a:pPr>
              <a:spcAft>
                <a:spcPts val="800"/>
              </a:spcAft>
              <a:defRPr sz="1300" b="1">
                <a:solidFill>
                  <a:srgbClr val="1E293B"/>
                </a:solidFill>
              </a:defRPr>
            </a:pPr>
            <a:r>
              <a:t>Sinh Automation Code &amp; Đột Phá Effort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Simulated to Executable Code: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Chuyển đổi các bước giả lập 3 tầng thành Playwright Script / k6 Load Script chạy trực tiếp.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CI/CD Regression Trigger: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Tự động chạy test case P1 ngay khi Dev tạo Pull Request.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• Đo lường &amp; Báo cáo ROI:</a:t>
            </a:r>
          </a:p>
          <a:p>
            <a:pPr>
              <a:spcAft>
                <a:spcPts val="400"/>
              </a:spcAft>
              <a:defRPr sz="900">
                <a:solidFill>
                  <a:srgbClr val="64748B"/>
                </a:solidFill>
              </a:defRPr>
            </a:pPr>
            <a:r>
              <a:t>Dashboard đo lường Defect Leakage Rate, QA Throughput và Man-hours saved.</a:t>
            </a:r>
          </a:p>
          <a:p>
            <a:pPr>
              <a:defRPr sz="1000" b="1">
                <a:solidFill>
                  <a:srgbClr val="0958D9"/>
                </a:solidFill>
              </a:defRPr>
            </a:pPr>
            <a:r>
              <a:t>• 🎯 KPI Tháng 3:</a:t>
            </a:r>
          </a:p>
          <a:p>
            <a:pPr>
              <a:spcAft>
                <a:spcPts val="400"/>
              </a:spcAft>
              <a:defRPr sz="900">
                <a:solidFill>
                  <a:srgbClr val="16A34A"/>
                </a:solidFill>
              </a:defRPr>
            </a:pPr>
            <a:r>
              <a:t>• Nâng Effort (Throughput) Team lên GẤP 2.5X</a:t>
            </a:r>
            <a:br/>
            <a:r>
              <a:t>• Giảm 50% bug lọt sang môi trường Staging/Prod</a:t>
            </a:r>
            <a:br/>
            <a:r>
              <a:t>• Tiết kiệm 15-20 giờ làm việc/QA/sprint.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E6F4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958D9"/>
                </a:solidFill>
              </a:defRPr>
            </a:pPr>
            <a:r>
              <a:t>6. STRATEGIC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Kết Luận: Chuyển Dịch Vị Thế QA Từ 'Thủ Công' Sang 'AI Orchestrator'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Giá trị mang lại cho đội ngũ và định hướng phát triển sự nghiệp tại doanh nghiệp.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1677FF"/>
                </a:solidFill>
              </a:defRPr>
            </a:pPr>
            <a:r>
              <a:t>🎯 TƯ DUY KIỂM ĐỊNH SỚM (SHIFT-LEFT)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AI không chỉ giúp viết test nhanh hơn, mà giúp QA chặn đứng lỗi ngay từ khâu viết requirement.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Bộ câu hỏi chất vấn BA sắc bén giúp cả team Dev &amp; Product cùng nhìn thấy góc khuất trước khi viết code.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Chi phí sửa lỗi ở giai đoạn Requirement rẻ hơn gấp 10-30 lần so với sửa lỗi ở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16A34A"/>
                </a:solidFill>
              </a:defRPr>
            </a:pPr>
            <a:r>
              <a:t>🛡️ DỮ LIỆU ĐÚNG ĐẮN LÀ TỐI THƯỢNG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Không đánh đổi tốc độ lấy ảo giác (hallucination). Human-in-the-loop là nguyên tắc bất di bất dịch.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Quy chuẩn kiểm chứng sâu 3 tầng (UI/API Body/DB Schema) giúp test case có thể tự động hóa ngay mà không cần làm lại.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Cơ chế Local-First &amp; Cloud Sync giúp dữ liệu được tích lũy bền vững, không bao giờ mất mát.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E6F4FF"/>
          </a:solidFill>
          <a:ln w="190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0958D9"/>
                </a:solidFill>
              </a:defRPr>
            </a:pPr>
            <a:r>
              <a:t>🚀 NÂNG TẦM VỊ THẾ CỦA QA</a:t>
            </a:r>
          </a:p>
          <a:p>
            <a:pPr>
              <a:spcAft>
                <a:spcPts val="800"/>
              </a:spcAft>
              <a:defRPr sz="1050" b="1">
                <a:solidFill>
                  <a:srgbClr val="1E293B"/>
                </a:solidFill>
              </a:defRPr>
            </a:pPr>
            <a:r>
              <a:t>✔ QA không còn là 'người gõ test case thủ công' mà trở thành 'AI QA Orchestrator &amp; System Thinker'.</a:t>
            </a:r>
          </a:p>
          <a:p>
            <a:pPr>
              <a:spcAft>
                <a:spcPts val="800"/>
              </a:spcAft>
              <a:defRPr sz="1050" b="1">
                <a:solidFill>
                  <a:srgbClr val="1E293B"/>
                </a:solidFill>
              </a:defRPr>
            </a:pPr>
            <a:r>
              <a:t>✔ Giải phóng 60% thời gian cơ bắp để QA tập trung vào Exploratory Testing, Security, Performance và AI Tuning.</a:t>
            </a:r>
          </a:p>
          <a:p>
            <a:pPr>
              <a:spcAft>
                <a:spcPts val="800"/>
              </a:spcAft>
              <a:defRPr sz="1050" b="1">
                <a:solidFill>
                  <a:srgbClr val="1E293B"/>
                </a:solidFill>
              </a:defRPr>
            </a:pPr>
            <a:r>
              <a:t>✔ Sẵn sàng dẫn dắt team QA của quý công ty chuyển đổi số thành công bằng các công cụ AI thực chiến.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💬 'Mục tiêu của tôi không phải là thay thế QA bằng AI, mà là biến mỗi QA trong team thành một Super QA có năng suất và tầm nhìn gấp 3 lần.'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Sẵn sàng trao đổi chi tiết và thực chiến cùng quý công ty ngay ngày mai!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