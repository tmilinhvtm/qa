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97135" cy="2743200"/>
          </a:xfrm>
          <a:prstGeom prst="rect">
            <a:avLst/>
          </a:prstGeom>
          <a:noFill/>
        </p:spPr>
        <p:txBody>
          <a:bodyPr wrap="square">
            <a:spAutoFit/>
          </a:bodyPr>
          <a:lstStyle/>
          <a:p>
            <a:pPr algn="ctr">
              <a:spcAft>
                <a:spcPts val="1200"/>
              </a:spcAft>
              <a:defRPr sz="1200" b="1">
                <a:solidFill>
                  <a:srgbClr val="0958D9"/>
                </a:solidFill>
              </a:defRPr>
            </a:pPr>
            <a:r>
              <a:t>CHIẾN LƯỢC ỨNG DỤNG AI TRONG KIỂM THỬ (AI-DRIVEN QA SYSTEM)</a:t>
            </a:r>
          </a:p>
          <a:p>
            <a:pPr algn="ctr">
              <a:spcAft>
                <a:spcPts val="1400"/>
              </a:spcAft>
              <a:defRPr sz="3000" b="1">
                <a:solidFill>
                  <a:srgbClr val="1E293B"/>
                </a:solidFill>
              </a:defRPr>
            </a:pPr>
            <a:r>
              <a:t>QA REQUIREMENT &amp; RISK ASSISTANT</a:t>
            </a:r>
            <a:br/>
            <a:r>
              <a:t>Hệ Tác Tử Tự Động Phân Tích Yêu Cầu &amp; Thiết Kế Kiểm Thử Thực Chiến</a:t>
            </a:r>
          </a:p>
          <a:p>
            <a:pPr algn="ctr">
              <a:defRPr sz="1350">
                <a:solidFill>
                  <a:srgbClr val="64748B"/>
                </a:solidFill>
              </a:defRPr>
            </a:pPr>
            <a:r>
              <a:t>Chuyển hóa tài liệu yêu cầu thô thành Test Suite chuẩn 3 tầng UI/API/DB • Chặn đứng lỗi sớm • Chuẩn hóa dữ liệu QA</a:t>
            </a:r>
          </a:p>
        </p:txBody>
      </p:sp>
      <p:sp>
        <p:nvSpPr>
          <p:cNvPr id="5" name="Rounded Rectangle 4"/>
          <p:cNvSpPr/>
          <p:nvPr/>
        </p:nvSpPr>
        <p:spPr>
          <a:xfrm>
            <a:off x="2011680" y="4846320"/>
            <a:ext cx="8168335"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defRPr>
            </a:pPr>
            <a:r>
              <a:t>👤 Vũ Thị Mai Linh  •  🎯 AI QA Specialist  •  ⚡ Antigravity Native Plugin &amp; Google Workspace MCP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1. ĐỊNH DANH HỆ THỐNG</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Hệ Thống Đang Làm Gì? Khả Năng Xử Lý Chuyên Sâu Từng Khâu</a:t>
            </a:r>
          </a:p>
          <a:p>
            <a:pPr>
              <a:defRPr sz="1050">
                <a:solidFill>
                  <a:srgbClr val="64748B"/>
                </a:solidFill>
              </a:defRPr>
            </a:pPr>
            <a:r>
              <a:t>Quy trình tự động từ lúc nhận yêu cầu ban đầu đến khi xuất ra bảng kịch bản kiểm thử hoàn chỉnh, dễ hiểu và dùng được ngay.</a:t>
            </a:r>
          </a:p>
        </p:txBody>
      </p:sp>
      <p:sp>
        <p:nvSpPr>
          <p:cNvPr id="5" name="Rounded Rectangle 4"/>
          <p:cNvSpPr/>
          <p:nvPr/>
        </p:nvSpPr>
        <p:spPr>
          <a:xfrm>
            <a:off x="731520" y="146304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77FF"/>
                </a:solidFill>
              </a:defRPr>
            </a:pPr>
            <a:r>
              <a:t>📥 GIAI ĐOẠN 1: ĐẦU VÀO</a:t>
            </a:r>
          </a:p>
          <a:p>
            <a:pPr>
              <a:spcAft>
                <a:spcPts val="200"/>
              </a:spcAft>
              <a:defRPr sz="1300" b="1">
                <a:solidFill>
                  <a:srgbClr val="1E293B"/>
                </a:solidFill>
              </a:defRPr>
            </a:pPr>
            <a:r>
              <a:t>Tiếp Nhận &amp; Đọc Hiểu Yêu Cầu</a:t>
            </a:r>
          </a:p>
          <a:p>
            <a:pPr>
              <a:spcAft>
                <a:spcPts val="800"/>
              </a:spcAft>
              <a:defRPr sz="900">
                <a:solidFill>
                  <a:srgbClr val="64748B"/>
                </a:solidFill>
              </a:defRPr>
            </a:pPr>
            <a:r>
              <a:t>Đọc hiểu linh hoạt mọi dạng tài liệu dự án</a:t>
            </a:r>
          </a:p>
          <a:p>
            <a:pPr>
              <a:defRPr sz="950" b="1">
                <a:solidFill>
                  <a:srgbClr val="1E293B"/>
                </a:solidFill>
              </a:defRPr>
            </a:pPr>
            <a:r>
              <a:t>📄 Yêu cầu tính năng &amp; mong muốn người dùng:</a:t>
            </a:r>
          </a:p>
          <a:p>
            <a:pPr>
              <a:spcAft>
                <a:spcPts val="500"/>
              </a:spcAft>
              <a:defRPr sz="850">
                <a:solidFill>
                  <a:srgbClr val="64748B"/>
                </a:solidFill>
              </a:defRPr>
            </a:pPr>
            <a:r>
              <a:t>Đọc hiểu bối cảnh và tiêu chí nghiệm thu kể cả khi diễn đạt còn mơ hồ, thiếu ý.</a:t>
            </a:r>
          </a:p>
          <a:p>
            <a:pPr>
              <a:defRPr sz="950" b="1">
                <a:solidFill>
                  <a:srgbClr val="1E293B"/>
                </a:solidFill>
              </a:defRPr>
            </a:pPr>
            <a:r>
              <a:t>📑 Tài liệu nghiệp vụ chi tiết:</a:t>
            </a:r>
          </a:p>
          <a:p>
            <a:pPr>
              <a:spcAft>
                <a:spcPts val="500"/>
              </a:spcAft>
              <a:defRPr sz="850">
                <a:solidFill>
                  <a:srgbClr val="64748B"/>
                </a:solidFill>
              </a:defRPr>
            </a:pPr>
            <a:r>
              <a:t>Phân tích mạch lạc tài liệu quy trình kinh doanh dài và phức tạp của dự án.</a:t>
            </a:r>
          </a:p>
          <a:p>
            <a:pPr>
              <a:defRPr sz="950" b="1">
                <a:solidFill>
                  <a:srgbClr val="1E293B"/>
                </a:solidFill>
              </a:defRPr>
            </a:pPr>
            <a:r>
              <a:t>⚙️ Thông số kỹ thuật &amp; cổng dữ liệu:</a:t>
            </a:r>
          </a:p>
          <a:p>
            <a:pPr>
              <a:spcAft>
                <a:spcPts val="500"/>
              </a:spcAft>
              <a:defRPr sz="850">
                <a:solidFill>
                  <a:srgbClr val="64748B"/>
                </a:solidFill>
              </a:defRPr>
            </a:pPr>
            <a:r>
              <a:t>Tự động hiểu cấu trúc thông tin gửi đi và kết quả hệ thống cần trả về.</a:t>
            </a:r>
          </a:p>
          <a:p>
            <a:pPr>
              <a:defRPr sz="950" b="1">
                <a:solidFill>
                  <a:srgbClr val="1E293B"/>
                </a:solidFill>
              </a:defRPr>
            </a:pPr>
            <a:r>
              <a:t>🧠 Tự điều chỉnh cách hành văn:</a:t>
            </a:r>
          </a:p>
          <a:p>
            <a:pPr>
              <a:spcAft>
                <a:spcPts val="500"/>
              </a:spcAft>
              <a:defRPr sz="850">
                <a:solidFill>
                  <a:srgbClr val="64748B"/>
                </a:solidFill>
              </a:defRPr>
            </a:pPr>
            <a:r>
              <a:t>Linh hoạt dùng từ ngữ đời sống dễ hiểu cho Nghiệp vụ hoặc chuyên sâu cho Kỹ thuật.</a:t>
            </a:r>
          </a:p>
        </p:txBody>
      </p:sp>
      <p:sp>
        <p:nvSpPr>
          <p:cNvPr id="6" name="Rounded Rectangle 5"/>
          <p:cNvSpPr/>
          <p:nvPr/>
        </p:nvSpPr>
        <p:spPr>
          <a:xfrm>
            <a:off x="4389120" y="146304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7C3AED"/>
                </a:solidFill>
              </a:defRPr>
            </a:pPr>
            <a:r>
              <a:t>⚙️ GIAI ĐOẠN 2: TỰ ĐỘNG XỬ LÝ</a:t>
            </a:r>
          </a:p>
          <a:p>
            <a:pPr>
              <a:spcAft>
                <a:spcPts val="200"/>
              </a:spcAft>
              <a:defRPr sz="1300" b="1">
                <a:solidFill>
                  <a:srgbClr val="1E293B"/>
                </a:solidFill>
              </a:defRPr>
            </a:pPr>
            <a:r>
              <a:t>Phân Tích &amp; Soạn Kịch Bản</a:t>
            </a:r>
          </a:p>
          <a:p>
            <a:pPr>
              <a:spcAft>
                <a:spcPts val="800"/>
              </a:spcAft>
              <a:defRPr sz="900">
                <a:solidFill>
                  <a:srgbClr val="64748B"/>
                </a:solidFill>
              </a:defRPr>
            </a:pPr>
            <a:r>
              <a:t>Chỉ ra điểm thiếu sót và dựng kịch bản kiểm tra toàn diện</a:t>
            </a:r>
          </a:p>
          <a:p>
            <a:pPr>
              <a:defRPr sz="950" b="1">
                <a:solidFill>
                  <a:srgbClr val="1E293B"/>
                </a:solidFill>
              </a:defRPr>
            </a:pPr>
            <a:r>
              <a:t>📋 Phân tách quy tắc &amp; luồng hoạt động:</a:t>
            </a:r>
          </a:p>
          <a:p>
            <a:pPr>
              <a:spcAft>
                <a:spcPts val="500"/>
              </a:spcAft>
              <a:defRPr sz="850">
                <a:solidFill>
                  <a:srgbClr val="64748B"/>
                </a:solidFill>
              </a:defRPr>
            </a:pPr>
            <a:r>
              <a:t>Tự động chỉ ra quy tắc đúng, giới hạn số liệu, trường hợp phát sinh lỗi và luồng người dùng.</a:t>
            </a:r>
          </a:p>
          <a:p>
            <a:pPr>
              <a:defRPr sz="950" b="1">
                <a:solidFill>
                  <a:srgbClr val="1E293B"/>
                </a:solidFill>
              </a:defRPr>
            </a:pPr>
            <a:r>
              <a:t>❓ Đặt câu hỏi làm rõ điểm chưa rõ ràng:</a:t>
            </a:r>
          </a:p>
          <a:p>
            <a:pPr>
              <a:spcAft>
                <a:spcPts val="500"/>
              </a:spcAft>
              <a:defRPr sz="850">
                <a:solidFill>
                  <a:srgbClr val="64748B"/>
                </a:solidFill>
              </a:defRPr>
            </a:pPr>
            <a:r>
              <a:t>Tìm ra các kẽ hở logic, trường hợp bỏ sót để đội ngũ chốt sớm với nhau trước khi làm.</a:t>
            </a:r>
          </a:p>
          <a:p>
            <a:pPr>
              <a:defRPr sz="950" b="1">
                <a:solidFill>
                  <a:srgbClr val="1E293B"/>
                </a:solidFill>
              </a:defRPr>
            </a:pPr>
            <a:r>
              <a:t>🔍 Cảnh báo sớm các lỗi ngầm khó phát hiện:</a:t>
            </a:r>
          </a:p>
          <a:p>
            <a:pPr>
              <a:spcAft>
                <a:spcPts val="500"/>
              </a:spcAft>
              <a:defRPr sz="850">
                <a:solidFill>
                  <a:srgbClr val="64748B"/>
                </a:solidFill>
              </a:defRPr>
            </a:pPr>
            <a:r>
              <a:t>Dự đoán nguy cơ lỗi khi nhiều người cùng thao tác một lúc, trùng lặp đơn hàng hoặc phiên đăng nhập hết hạn.</a:t>
            </a:r>
          </a:p>
          <a:p>
            <a:pPr>
              <a:defRPr sz="950" b="1">
                <a:solidFill>
                  <a:srgbClr val="1E293B"/>
                </a:solidFill>
              </a:defRPr>
            </a:pPr>
            <a:r>
              <a:t>🗄️ Soi chiếu với các lỗi thực tế hay gặp:</a:t>
            </a:r>
          </a:p>
          <a:p>
            <a:pPr>
              <a:spcAft>
                <a:spcPts val="500"/>
              </a:spcAft>
              <a:defRPr sz="850">
                <a:solidFill>
                  <a:srgbClr val="64748B"/>
                </a:solidFill>
              </a:defRPr>
            </a:pPr>
            <a:r>
              <a:t>Dùng kho lỗi phổ biến ngoài đời thực để nhắc nhở và không bỏ sót tình huống kiểm tra.</a:t>
            </a:r>
          </a:p>
          <a:p>
            <a:pPr>
              <a:defRPr sz="950" b="1">
                <a:solidFill>
                  <a:srgbClr val="1E293B"/>
                </a:solidFill>
              </a:defRPr>
            </a:pPr>
            <a:r>
              <a:t>💎 Kịch bản chi tiết, rõ ràng từng bước:</a:t>
            </a:r>
          </a:p>
          <a:p>
            <a:pPr>
              <a:spcAft>
                <a:spcPts val="500"/>
              </a:spcAft>
              <a:defRPr sz="850">
                <a:solidFill>
                  <a:srgbClr val="64748B"/>
                </a:solidFill>
              </a:defRPr>
            </a:pPr>
            <a:r>
              <a:t>Tách nhỏ từng thao tác, đối soát kỹ giao diện người dùng, đường truyền dữ liệu và cơ sở dữ liệu thật.</a:t>
            </a:r>
          </a:p>
        </p:txBody>
      </p:sp>
      <p:sp>
        <p:nvSpPr>
          <p:cNvPr id="7" name="Rounded Rectangle 6"/>
          <p:cNvSpPr/>
          <p:nvPr/>
        </p:nvSpPr>
        <p:spPr>
          <a:xfrm>
            <a:off x="8046720" y="146304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A34A"/>
                </a:solidFill>
              </a:defRPr>
            </a:pPr>
            <a:r>
              <a:t>📤 GIAI ĐOẠN 3: BÀN GIAO KẾT QUẢ</a:t>
            </a:r>
          </a:p>
          <a:p>
            <a:pPr>
              <a:spcAft>
                <a:spcPts val="200"/>
              </a:spcAft>
              <a:defRPr sz="1300" b="1">
                <a:solidFill>
                  <a:srgbClr val="1E293B"/>
                </a:solidFill>
              </a:defRPr>
            </a:pPr>
            <a:r>
              <a:t>Bảng Kịch Bản Hoàn Chỉnh</a:t>
            </a:r>
          </a:p>
          <a:p>
            <a:pPr>
              <a:spcAft>
                <a:spcPts val="800"/>
              </a:spcAft>
              <a:defRPr sz="900">
                <a:solidFill>
                  <a:srgbClr val="64748B"/>
                </a:solidFill>
              </a:defRPr>
            </a:pPr>
            <a:r>
              <a:t>Trình bày trực quan trên Google Sheets, dùng được ngay</a:t>
            </a:r>
          </a:p>
          <a:p>
            <a:pPr>
              <a:defRPr sz="950" b="1">
                <a:solidFill>
                  <a:srgbClr val="1E293B"/>
                </a:solidFill>
              </a:defRPr>
            </a:pPr>
            <a:r>
              <a:t>📊 Bảng kịch bản trực quan trên Google Sheets:</a:t>
            </a:r>
          </a:p>
          <a:p>
            <a:pPr>
              <a:spcAft>
                <a:spcPts val="500"/>
              </a:spcAft>
              <a:defRPr sz="850">
                <a:solidFill>
                  <a:srgbClr val="64748B"/>
                </a:solidFill>
              </a:defRPr>
            </a:pPr>
            <a:r>
              <a:t>Tự động lưu trữ vào bảng tính chuẩn mực, phân mục rõ ràng, chuyên nghiệp và dễ xem.</a:t>
            </a:r>
          </a:p>
          <a:p>
            <a:pPr>
              <a:defRPr sz="950" b="1">
                <a:solidFill>
                  <a:srgbClr val="1E293B"/>
                </a:solidFill>
              </a:defRPr>
            </a:pPr>
            <a:r>
              <a:t>🎯 Menu chọn kết quả tiện lợi:</a:t>
            </a:r>
          </a:p>
          <a:p>
            <a:pPr>
              <a:spcAft>
                <a:spcPts val="500"/>
              </a:spcAft>
              <a:defRPr sz="850">
                <a:solidFill>
                  <a:srgbClr val="64748B"/>
                </a:solidFill>
              </a:defRPr>
            </a:pPr>
            <a:r>
              <a:t>Cho phép Tester bấm chọn Đạt / Không đạt / Đang chờ, tự động đổi màu trực quan khi làm việc.</a:t>
            </a:r>
          </a:p>
          <a:p>
            <a:pPr>
              <a:defRPr sz="950" b="1">
                <a:solidFill>
                  <a:srgbClr val="1E293B"/>
                </a:solidFill>
              </a:defRPr>
            </a:pPr>
            <a:r>
              <a:t>💾 Tích lũy liên tục, không lo mất lịch sử:</a:t>
            </a:r>
          </a:p>
          <a:p>
            <a:pPr>
              <a:spcAft>
                <a:spcPts val="500"/>
              </a:spcAft>
              <a:defRPr sz="850">
                <a:solidFill>
                  <a:srgbClr val="64748B"/>
                </a:solidFill>
              </a:defRPr>
            </a:pPr>
            <a:r>
              <a:t>Tự động lưu nối tiếp các đợt kiểm thử mới mà không làm mất dữ liệu của các kỳ trước.</a:t>
            </a:r>
          </a:p>
          <a:p>
            <a:pPr>
              <a:defRPr sz="950" b="1">
                <a:solidFill>
                  <a:srgbClr val="1E293B"/>
                </a:solidFill>
              </a:defRPr>
            </a:pPr>
            <a:r>
              <a:t>🤖 Sẵn sàng đưa vào kiểm thử tự động:</a:t>
            </a:r>
          </a:p>
          <a:p>
            <a:pPr>
              <a:spcAft>
                <a:spcPts val="500"/>
              </a:spcAft>
              <a:defRPr sz="850">
                <a:solidFill>
                  <a:srgbClr val="64748B"/>
                </a:solidFill>
              </a:defRPr>
            </a:pPr>
            <a:r>
              <a:t>Các bước kiểm tra được viết gãy gọn, giúp đội ngũ có thể cài đặt cho máy chạy tự động ngay.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2. NHIỆM VỤ TRỌNG TÂM CỦA HỆ THỐNG</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Hệ Thống Nhằm Nhiệm Vụ Gì? 4 Sứ Mệnh Kiểm Thử Chiến Lược</a:t>
            </a:r>
          </a:p>
          <a:p>
            <a:pPr>
              <a:defRPr sz="1050">
                <a:solidFill>
                  <a:srgbClr val="64748B"/>
                </a:solidFill>
              </a:defRPr>
            </a:pPr>
            <a:r>
              <a:t>Giải quyết triệt để các nút thắt cổ chai về chất lượng phần mềm, phát hiện lỗi sớm và chuẩn hóa dữ liệu.</a:t>
            </a:r>
          </a:p>
        </p:txBody>
      </p:sp>
      <p:sp>
        <p:nvSpPr>
          <p:cNvPr id="5" name="Rounded Rectangle 4"/>
          <p:cNvSpPr/>
          <p:nvPr/>
        </p:nvSpPr>
        <p:spPr>
          <a:xfrm>
            <a:off x="731520" y="1463040"/>
            <a:ext cx="24688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77FF"/>
                </a:solidFill>
              </a:defRPr>
            </a:pPr>
            <a:r>
              <a:t>🎯 NHIỆM VỤ 1</a:t>
            </a:r>
          </a:p>
          <a:p>
            <a:pPr>
              <a:spcAft>
                <a:spcPts val="200"/>
              </a:spcAft>
              <a:defRPr sz="1200" b="1">
                <a:solidFill>
                  <a:srgbClr val="1E293B"/>
                </a:solidFill>
              </a:defRPr>
            </a:pPr>
            <a:r>
              <a:t>Shift-Left QA</a:t>
            </a:r>
            <a:br/>
            <a:r>
              <a:t>Chặn Đứng Lỗi Sớm</a:t>
            </a:r>
          </a:p>
          <a:p>
            <a:pPr>
              <a:spcAft>
                <a:spcPts val="800"/>
              </a:spcAft>
              <a:defRPr sz="850">
                <a:solidFill>
                  <a:srgbClr val="64748B"/>
                </a:solidFill>
              </a:defRPr>
            </a:pPr>
            <a:r>
              <a:t>Phát hiện kẽ hở ngay tại Spec</a:t>
            </a:r>
          </a:p>
          <a:p>
            <a:pPr>
              <a:defRPr sz="900" b="1">
                <a:solidFill>
                  <a:srgbClr val="1E293B"/>
                </a:solidFill>
              </a:defRPr>
            </a:pPr>
            <a:r>
              <a:t>⚠️ Thực trạng:</a:t>
            </a:r>
          </a:p>
          <a:p>
            <a:pPr>
              <a:spcAft>
                <a:spcPts val="500"/>
              </a:spcAft>
              <a:defRPr sz="850">
                <a:solidFill>
                  <a:srgbClr val="64748B"/>
                </a:solidFill>
              </a:defRPr>
            </a:pPr>
            <a:r>
              <a:t>70% lỗi phần mềm xuất phát từ yêu cầu mơ hồ, thiếu biên, mâu thuẫn logic.</a:t>
            </a:r>
          </a:p>
          <a:p>
            <a:pPr>
              <a:defRPr sz="900" b="1">
                <a:solidFill>
                  <a:srgbClr val="1E293B"/>
                </a:solidFill>
              </a:defRPr>
            </a:pPr>
            <a:r>
              <a:t>💡 Nhiệm vụ:</a:t>
            </a:r>
          </a:p>
          <a:p>
            <a:pPr>
              <a:spcAft>
                <a:spcPts val="500"/>
              </a:spcAft>
              <a:defRPr sz="850">
                <a:solidFill>
                  <a:srgbClr val="64748B"/>
                </a:solidFill>
              </a:defRPr>
            </a:pPr>
            <a:r>
              <a:t>Bắt lỗi và kẽ hở nghiệp vụ ngay trong Sprint Planning trước khi Dev viết code.</a:t>
            </a:r>
          </a:p>
          <a:p>
            <a:pPr>
              <a:defRPr sz="900" b="1">
                <a:solidFill>
                  <a:srgbClr val="1E293B"/>
                </a:solidFill>
              </a:defRPr>
            </a:pPr>
            <a:r>
              <a:t>💰 Giá trị ROI:</a:t>
            </a:r>
          </a:p>
          <a:p>
            <a:pPr>
              <a:spcAft>
                <a:spcPts val="500"/>
              </a:spcAft>
              <a:defRPr sz="850">
                <a:solidFill>
                  <a:srgbClr val="64748B"/>
                </a:solidFill>
              </a:defRPr>
            </a:pPr>
            <a:r>
              <a:t>Chi phí sửa lỗi tại Spec rẻ hơn 10 - 30 lần so với sửa lỗi tại UAT hoặc Production.</a:t>
            </a:r>
          </a:p>
          <a:p>
            <a:pPr>
              <a:defRPr sz="900" b="1">
                <a:solidFill>
                  <a:srgbClr val="1E293B"/>
                </a:solidFill>
              </a:defRPr>
            </a:pPr>
            <a:r>
              <a:t>🤝 Hợp tác:</a:t>
            </a:r>
          </a:p>
          <a:p>
            <a:pPr>
              <a:spcAft>
                <a:spcPts val="500"/>
              </a:spcAft>
              <a:defRPr sz="850">
                <a:solidFill>
                  <a:srgbClr val="64748B"/>
                </a:solidFill>
              </a:defRPr>
            </a:pPr>
            <a:r>
              <a:t>Tạo cầu nối phản biện chủ động giữa QA, BA và Tech Lead.</a:t>
            </a:r>
          </a:p>
        </p:txBody>
      </p:sp>
      <p:sp>
        <p:nvSpPr>
          <p:cNvPr id="6" name="Rounded Rectangle 5"/>
          <p:cNvSpPr/>
          <p:nvPr/>
        </p:nvSpPr>
        <p:spPr>
          <a:xfrm>
            <a:off x="3474720" y="1463040"/>
            <a:ext cx="24688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0D9488"/>
                </a:solidFill>
              </a:defRPr>
            </a:pPr>
            <a:r>
              <a:t>🚀 NHIỆM VỤ 2</a:t>
            </a:r>
          </a:p>
          <a:p>
            <a:pPr>
              <a:spcAft>
                <a:spcPts val="200"/>
              </a:spcAft>
              <a:defRPr sz="1200" b="1">
                <a:solidFill>
                  <a:srgbClr val="1E293B"/>
                </a:solidFill>
              </a:defRPr>
            </a:pPr>
            <a:r>
              <a:t>Tối Ưu Chu Trình QA</a:t>
            </a:r>
            <a:br/>
            <a:r>
              <a:t>Giải Phóng Thủ Công</a:t>
            </a:r>
          </a:p>
          <a:p>
            <a:pPr>
              <a:spcAft>
                <a:spcPts val="800"/>
              </a:spcAft>
              <a:defRPr sz="850">
                <a:solidFill>
                  <a:srgbClr val="64748B"/>
                </a:solidFill>
              </a:defRPr>
            </a:pPr>
            <a:r>
              <a:t>Tự động hóa đọc hiểu &amp; viết test</a:t>
            </a:r>
          </a:p>
          <a:p>
            <a:pPr>
              <a:defRPr sz="900" b="1">
                <a:solidFill>
                  <a:srgbClr val="1E293B"/>
                </a:solidFill>
              </a:defRPr>
            </a:pPr>
            <a:r>
              <a:t>⚠️ Thực trạng:</a:t>
            </a:r>
          </a:p>
          <a:p>
            <a:pPr>
              <a:spcAft>
                <a:spcPts val="500"/>
              </a:spcAft>
              <a:defRPr sz="850">
                <a:solidFill>
                  <a:srgbClr val="64748B"/>
                </a:solidFill>
              </a:defRPr>
            </a:pPr>
            <a:r>
              <a:t>QA mất nhiều thời gian sprint chỉ để đọc spec dài, kẻ bảng excel, format sheet.</a:t>
            </a:r>
          </a:p>
          <a:p>
            <a:pPr>
              <a:defRPr sz="900" b="1">
                <a:solidFill>
                  <a:srgbClr val="1E293B"/>
                </a:solidFill>
              </a:defRPr>
            </a:pPr>
            <a:r>
              <a:t>💡 Nhiệm vụ:</a:t>
            </a:r>
          </a:p>
          <a:p>
            <a:pPr>
              <a:spcAft>
                <a:spcPts val="500"/>
              </a:spcAft>
              <a:defRPr sz="850">
                <a:solidFill>
                  <a:srgbClr val="64748B"/>
                </a:solidFill>
              </a:defRPr>
            </a:pPr>
            <a:r>
              <a:t>Tự động hóa 80% khâu đọc hiểu, bóc tách rules và viết đặc tả test cases.</a:t>
            </a:r>
          </a:p>
          <a:p>
            <a:pPr>
              <a:defRPr sz="900" b="1">
                <a:solidFill>
                  <a:srgbClr val="1E293B"/>
                </a:solidFill>
              </a:defRPr>
            </a:pPr>
            <a:r>
              <a:t>⏳ Tốc độ vượt trội:</a:t>
            </a:r>
          </a:p>
          <a:p>
            <a:pPr>
              <a:spcAft>
                <a:spcPts val="500"/>
              </a:spcAft>
              <a:defRPr sz="850">
                <a:solidFill>
                  <a:srgbClr val="64748B"/>
                </a:solidFill>
              </a:defRPr>
            </a:pPr>
            <a:r>
              <a:t>Chuẩn bị test suite hoàn chỉnh trong vài phút thay vì cả buổi làm việc.</a:t>
            </a:r>
          </a:p>
          <a:p>
            <a:pPr>
              <a:defRPr sz="900" b="1">
                <a:solidFill>
                  <a:srgbClr val="1E293B"/>
                </a:solidFill>
              </a:defRPr>
            </a:pPr>
            <a:r>
              <a:t>🧠 Nâng tầm QA:</a:t>
            </a:r>
          </a:p>
          <a:p>
            <a:pPr>
              <a:spcAft>
                <a:spcPts val="500"/>
              </a:spcAft>
              <a:defRPr sz="850">
                <a:solidFill>
                  <a:srgbClr val="64748B"/>
                </a:solidFill>
              </a:defRPr>
            </a:pPr>
            <a:r>
              <a:t>Dành thời gian tập trung vào Exploratory Testing, Security &amp; UX.</a:t>
            </a:r>
          </a:p>
        </p:txBody>
      </p:sp>
      <p:sp>
        <p:nvSpPr>
          <p:cNvPr id="7" name="Rounded Rectangle 6"/>
          <p:cNvSpPr/>
          <p:nvPr/>
        </p:nvSpPr>
        <p:spPr>
          <a:xfrm>
            <a:off x="6217920" y="1463040"/>
            <a:ext cx="24688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E11D48"/>
                </a:solidFill>
              </a:defRPr>
            </a:pPr>
            <a:r>
              <a:t>🛡️ NHIỆM VỤ 3</a:t>
            </a:r>
          </a:p>
          <a:p>
            <a:pPr>
              <a:spcAft>
                <a:spcPts val="200"/>
              </a:spcAft>
              <a:defRPr sz="1200" b="1">
                <a:solidFill>
                  <a:srgbClr val="1E293B"/>
                </a:solidFill>
              </a:defRPr>
            </a:pPr>
            <a:r>
              <a:t>Triệt Tiêu Ảo Giác</a:t>
            </a:r>
            <a:br/>
            <a:r>
              <a:t>Chính Xác Dữ Liệu</a:t>
            </a:r>
          </a:p>
          <a:p>
            <a:pPr>
              <a:spcAft>
                <a:spcPts val="800"/>
              </a:spcAft>
              <a:defRPr sz="850">
                <a:solidFill>
                  <a:srgbClr val="64748B"/>
                </a:solidFill>
              </a:defRPr>
            </a:pPr>
            <a:r>
              <a:t>Kiểm chứng 3 tầng &amp; Con người duyệt</a:t>
            </a:r>
          </a:p>
          <a:p>
            <a:pPr>
              <a:defRPr sz="900" b="1">
                <a:solidFill>
                  <a:srgbClr val="1E293B"/>
                </a:solidFill>
              </a:defRPr>
            </a:pPr>
            <a:r>
              <a:t>⚠️ Thực trạng:</a:t>
            </a:r>
          </a:p>
          <a:p>
            <a:pPr>
              <a:spcAft>
                <a:spcPts val="500"/>
              </a:spcAft>
              <a:defRPr sz="850">
                <a:solidFill>
                  <a:srgbClr val="64748B"/>
                </a:solidFill>
              </a:defRPr>
            </a:pPr>
            <a:r>
              <a:t>Prompt AI tự do luôn tạo test case hời hợt 'HTTP 200', bịa endpoint giả.</a:t>
            </a:r>
          </a:p>
          <a:p>
            <a:pPr>
              <a:defRPr sz="900" b="1">
                <a:solidFill>
                  <a:srgbClr val="1E293B"/>
                </a:solidFill>
              </a:defRPr>
            </a:pPr>
            <a:r>
              <a:t>💡 Nhiệm vụ:</a:t>
            </a:r>
          </a:p>
          <a:p>
            <a:pPr>
              <a:spcAft>
                <a:spcPts val="500"/>
              </a:spcAft>
              <a:defRPr sz="850">
                <a:solidFill>
                  <a:srgbClr val="64748B"/>
                </a:solidFill>
              </a:defRPr>
            </a:pPr>
            <a:r>
              <a:t>Kiểm chứng sâu 3 tầng UI + API Body + DB State &amp; Event.</a:t>
            </a:r>
          </a:p>
          <a:p>
            <a:pPr>
              <a:defRPr sz="900" b="1">
                <a:solidFill>
                  <a:srgbClr val="1E293B"/>
                </a:solidFill>
              </a:defRPr>
            </a:pPr>
            <a:r>
              <a:t>🛑 Human-in-the-Loop:</a:t>
            </a:r>
          </a:p>
          <a:p>
            <a:pPr>
              <a:spcAft>
                <a:spcPts val="500"/>
              </a:spcAft>
              <a:defRPr sz="850">
                <a:solidFill>
                  <a:srgbClr val="64748B"/>
                </a:solidFill>
              </a:defRPr>
            </a:pPr>
            <a:r>
              <a:t>2 Chốt chặn Human Gates trao quyền kiểm soát tối cao cho Tester.</a:t>
            </a:r>
          </a:p>
          <a:p>
            <a:pPr>
              <a:defRPr sz="900" b="1">
                <a:solidFill>
                  <a:srgbClr val="1E293B"/>
                </a:solidFill>
              </a:defRPr>
            </a:pPr>
            <a:r>
              <a:t>↩️ Tự động Rollback:</a:t>
            </a:r>
          </a:p>
          <a:p>
            <a:pPr>
              <a:spcAft>
                <a:spcPts val="500"/>
              </a:spcAft>
              <a:defRPr sz="850">
                <a:solidFill>
                  <a:srgbClr val="64748B"/>
                </a:solidFill>
              </a:defRPr>
            </a:pPr>
            <a:r>
              <a:t>Đổi requirement là tự động hủy test cũ và phân tích lại từ đầu.</a:t>
            </a:r>
          </a:p>
        </p:txBody>
      </p:sp>
      <p:sp>
        <p:nvSpPr>
          <p:cNvPr id="8" name="Rounded Rectangle 7"/>
          <p:cNvSpPr/>
          <p:nvPr/>
        </p:nvSpPr>
        <p:spPr>
          <a:xfrm>
            <a:off x="8961120" y="1463040"/>
            <a:ext cx="24688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A34A"/>
                </a:solidFill>
              </a:defRPr>
            </a:pPr>
            <a:r>
              <a:t>📈 NHIỆM VỤ 4</a:t>
            </a:r>
          </a:p>
          <a:p>
            <a:pPr>
              <a:spcAft>
                <a:spcPts val="200"/>
              </a:spcAft>
              <a:defRPr sz="1200" b="1">
                <a:solidFill>
                  <a:srgbClr val="1E293B"/>
                </a:solidFill>
              </a:defRPr>
            </a:pPr>
            <a:r>
              <a:t>Chuẩn Hóa Tri Thức</a:t>
            </a:r>
            <a:br/>
            <a:r>
              <a:t>Bệ Phóng E2E Auto</a:t>
            </a:r>
          </a:p>
          <a:p>
            <a:pPr>
              <a:spcAft>
                <a:spcPts val="800"/>
              </a:spcAft>
              <a:defRPr sz="850">
                <a:solidFill>
                  <a:srgbClr val="64748B"/>
                </a:solidFill>
              </a:defRPr>
            </a:pPr>
            <a:r>
              <a:t>Tài sản kiểm thử tích lũy lâu dài</a:t>
            </a:r>
          </a:p>
          <a:p>
            <a:pPr>
              <a:defRPr sz="900" b="1">
                <a:solidFill>
                  <a:srgbClr val="1E293B"/>
                </a:solidFill>
              </a:defRPr>
            </a:pPr>
            <a:r>
              <a:t>⚠️ Thực trạng:</a:t>
            </a:r>
          </a:p>
          <a:p>
            <a:pPr>
              <a:spcAft>
                <a:spcPts val="500"/>
              </a:spcAft>
              <a:defRPr sz="850">
                <a:solidFill>
                  <a:srgbClr val="64748B"/>
                </a:solidFill>
              </a:defRPr>
            </a:pPr>
            <a:r>
              <a:t>Tri thức kiểm thử nằm rải rác trên máy cá nhân, dễ thất thoát khi đổi nhân sự.</a:t>
            </a:r>
          </a:p>
          <a:p>
            <a:pPr>
              <a:defRPr sz="900" b="1">
                <a:solidFill>
                  <a:srgbClr val="1E293B"/>
                </a:solidFill>
              </a:defRPr>
            </a:pPr>
            <a:r>
              <a:t>💡 Nhiệm vụ:</a:t>
            </a:r>
          </a:p>
          <a:p>
            <a:pPr>
              <a:spcAft>
                <a:spcPts val="500"/>
              </a:spcAft>
              <a:defRPr sz="850">
                <a:solidFill>
                  <a:srgbClr val="64748B"/>
                </a:solidFill>
              </a:defRPr>
            </a:pPr>
            <a:r>
              <a:t>Tích lũy bền vững vào Local JSON &amp; Google Sheets Master theo cơ chế Append-Only.</a:t>
            </a:r>
          </a:p>
          <a:p>
            <a:pPr>
              <a:defRPr sz="900" b="1">
                <a:solidFill>
                  <a:srgbClr val="1E293B"/>
                </a:solidFill>
              </a:defRPr>
            </a:pPr>
            <a:r>
              <a:t>🔒 Bảo toàn lịch sử:</a:t>
            </a:r>
          </a:p>
          <a:p>
            <a:pPr>
              <a:spcAft>
                <a:spcPts val="500"/>
              </a:spcAft>
              <a:defRPr sz="850">
                <a:solidFill>
                  <a:srgbClr val="64748B"/>
                </a:solidFill>
              </a:defRPr>
            </a:pPr>
            <a:r>
              <a:t>Không bao giờ xóa/reset, truy vết toàn diện theo requirement_id.</a:t>
            </a:r>
          </a:p>
          <a:p>
            <a:pPr>
              <a:defRPr sz="900" b="1">
                <a:solidFill>
                  <a:srgbClr val="1E293B"/>
                </a:solidFill>
              </a:defRPr>
            </a:pPr>
            <a:r>
              <a:t>🤖 Cầu nối Automation:</a:t>
            </a:r>
          </a:p>
          <a:p>
            <a:pPr>
              <a:spcAft>
                <a:spcPts val="500"/>
              </a:spcAft>
              <a:defRPr sz="850">
                <a:solidFill>
                  <a:srgbClr val="64748B"/>
                </a:solidFill>
              </a:defRPr>
            </a:pPr>
            <a:r>
              <a:t>Cung cấp đầu vào hoàn hảo để framework Playwright E2E chạy tự động.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 KIẾN TRÚC TỔNG QUAN</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Tổng Quan: 2-Phase State Machine, 2 Human Gates &amp; Cloud Sync</a:t>
            </a:r>
          </a:p>
          <a:p>
            <a:pPr>
              <a:defRPr sz="1050">
                <a:solidFill>
                  <a:srgbClr val="64748B"/>
                </a:solidFill>
              </a:defRPr>
            </a:pPr>
            <a:r>
              <a:t>Sơ đồ luồng trạng thái tuần tự: Điểm rẽ nhánh điều kiện, 2 điểm dừng Tester và cơ chế tự động Rollback.</a:t>
            </a:r>
          </a:p>
        </p:txBody>
      </p:sp>
      <p:pic>
        <p:nvPicPr>
          <p:cNvPr id="5" name="Picture 4" descr="flowchart_overview.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3A. ĐI SÂU CHẶNG 0: PRE-FLIGHT</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Chặng 0: Quản Trị Góc Nhìn &amp; Xác Thực Cache Hai Chiều</a:t>
            </a:r>
          </a:p>
          <a:p>
            <a:pPr>
              <a:defRPr sz="1050">
                <a:solidFill>
                  <a:srgbClr val="64748B"/>
                </a:solidFill>
              </a:defRPr>
            </a:pPr>
            <a:r>
              <a:t>Sơ đồ luồng kiểm tra cache: Nhánh trùng khớp (&lt;50ms), nhánh Drive thay đổi và cơ chế Offline Fallback.</a:t>
            </a:r>
          </a:p>
        </p:txBody>
      </p:sp>
      <p:pic>
        <p:nvPicPr>
          <p:cNvPr id="5" name="Picture 4" descr="flowchart_stage0.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3B. ĐI SÂU PHA 1: REQ-RISK-ANALYST</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Pha 1: Bóc Tách Yêu Cầu &amp; Quét 5 Rủi Ro Kỹ Thuật</a:t>
            </a:r>
          </a:p>
          <a:p>
            <a:pPr>
              <a:defRPr sz="1050">
                <a:solidFill>
                  <a:srgbClr val="64748B"/>
                </a:solidFill>
              </a:defRPr>
            </a:pPr>
            <a:r>
              <a:t>Sơ đồ luồng phân tích tĩnh: Bóc tách 4 thành tố, rẽ nhánh phát hiện kẽ hở BA, quét 5 rủi ro và điểm chặn cấm sinh test.</a:t>
            </a:r>
          </a:p>
        </p:txBody>
      </p:sp>
      <p:pic>
        <p:nvPicPr>
          <p:cNvPr id="5" name="Picture 4" descr="flowchart_phase1.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3C. KIỂM SOÁT CON NGƯỜI (HUMAN-IN-THE-LOOP)</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Điểm Chặn: 2 Human Gates &amp; Cơ Chế Tự Động Rollback</a:t>
            </a:r>
          </a:p>
          <a:p>
            <a:pPr>
              <a:defRPr sz="1050">
                <a:solidFill>
                  <a:srgbClr val="64748B"/>
                </a:solidFill>
              </a:defRPr>
            </a:pPr>
            <a:r>
              <a:t>Sơ đồ luồng quyết định của Tester: Duyệt logic Gate 1, nghiệm thu test Gate 2 và luồng Rollback xóa test case khi đổi spec.</a:t>
            </a:r>
          </a:p>
        </p:txBody>
      </p:sp>
      <p:pic>
        <p:nvPicPr>
          <p:cNvPr id="5" name="Picture 4" descr="flowchart_gates.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3D. ĐI SÂU PHA 2: TEST-AUTOMATION-ARCHITECT</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Pha 2: Thiết Kế Test Automation &amp; 3 Tầng Kiểm Chứng Sâu</a:t>
            </a:r>
          </a:p>
          <a:p>
            <a:pPr>
              <a:defRPr sz="1050">
                <a:solidFill>
                  <a:srgbClr val="64748B"/>
                </a:solidFill>
              </a:defRPr>
            </a:pPr>
            <a:r>
              <a:t>Sơ đồ luồng thiết kế kịch bản: Tách bước độc lập, rẽ nhánh 5 nhóm ma trận và kiểm chứng sâu UI + API Body + DB.</a:t>
            </a:r>
          </a:p>
        </p:txBody>
      </p:sp>
      <p:pic>
        <p:nvPicPr>
          <p:cNvPr id="5" name="Picture 4" descr="flowchart_phase2.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3E. ĐI SÂU PHA 3: WORKSPACE SYNC MANAGER</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Pha 3: Cơ Chế Local-First &amp; Đồng Bộ Google Workspace 2 Chiều</a:t>
            </a:r>
          </a:p>
          <a:p>
            <a:pPr>
              <a:defRPr sz="1050">
                <a:solidFill>
                  <a:srgbClr val="64748B"/>
                </a:solidFill>
              </a:defRPr>
            </a:pPr>
            <a:r>
              <a:t>Sơ đồ luồng lưu trữ &amp; đồng bộ: Bước 1 Append local, Bước 2 Push Sheets qua MCP và Bước 3 Cập nhật cache metadata.</a:t>
            </a:r>
          </a:p>
        </p:txBody>
      </p:sp>
      <p:pic>
        <p:nvPicPr>
          <p:cNvPr id="5" name="Picture 4" descr="flowchart_phase3.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4. MINH CHỨNG THỰC NGHIỆM</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Minh Chứng Thực Nghiệm: Vòng Lặp Tự Nắn Chỉnh Qua 3 Bài Toán Mẫu</a:t>
            </a:r>
          </a:p>
          <a:p>
            <a:pPr>
              <a:defRPr sz="1050">
                <a:solidFill>
                  <a:srgbClr val="64748B"/>
                </a:solidFill>
              </a:defRPr>
            </a:pPr>
            <a:r>
              <a:t>Bằng chứng thực tế từ Repo: Cách hệ thống tự phát hiện sai sót, nắn chỉnh prompt và chuẩn hóa kết quả đầu ra.</a:t>
            </a:r>
          </a:p>
        </p:txBody>
      </p:sp>
      <p:sp>
        <p:nvSpPr>
          <p:cNvPr id="5" name="Rounded Rectangle 4"/>
          <p:cNvSpPr/>
          <p:nvPr/>
        </p:nvSpPr>
        <p:spPr>
          <a:xfrm>
            <a:off x="731520" y="1600200"/>
            <a:ext cx="10698480" cy="502920"/>
          </a:xfrm>
          <a:prstGeom prst="roundRect">
            <a:avLst/>
          </a:prstGeom>
          <a:solidFill>
            <a:srgbClr val="F8FAFC"/>
          </a:solidFill>
          <a:ln>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958D9"/>
                </a:solidFill>
              </a:defRPr>
            </a:pPr>
            <a:r>
              <a:t>🔄 VÒNG LẶP NẮN CHỈNH:   [1. Chạy Thực Nghiệm]  ➔  [2. Phát Hiện Sai Sót]  ➔  [3. Nắn Chỉnh Rules &amp; Code]  ➔  [4. Chuẩn Hóa Bền Vững]</a:t>
            </a:r>
          </a:p>
        </p:txBody>
      </p:sp>
      <p:sp>
        <p:nvSpPr>
          <p:cNvPr id="6" name="Rounded Rectangle 5"/>
          <p:cNvSpPr/>
          <p:nvPr/>
        </p:nvSpPr>
        <p:spPr>
          <a:xfrm>
            <a:off x="731520" y="2240280"/>
            <a:ext cx="33832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1677FF"/>
                </a:solidFill>
              </a:defRPr>
            </a:pPr>
            <a:r>
              <a:t>🔐 REQ A: KHÓA TÀI KHOẢN (Auth)</a:t>
            </a:r>
          </a:p>
          <a:p>
            <a:pPr>
              <a:spcAft>
                <a:spcPts val="600"/>
              </a:spcAft>
              <a:defRPr sz="950">
                <a:solidFill>
                  <a:srgbClr val="64748B"/>
                </a:solidFill>
              </a:defRPr>
            </a:pPr>
            <a:r>
              <a:t>Sai mật khẩu 5 lần liên tiếp</a:t>
            </a:r>
          </a:p>
          <a:p>
            <a:pPr>
              <a:defRPr sz="1000" b="1">
                <a:solidFill>
                  <a:srgbClr val="16A34A"/>
                </a:solidFill>
              </a:defRPr>
            </a:pPr>
            <a:r>
              <a:t>✔ Điểm sáng:</a:t>
            </a:r>
          </a:p>
          <a:p>
            <a:pPr>
              <a:spcAft>
                <a:spcPts val="500"/>
              </a:spcAft>
              <a:defRPr sz="850">
                <a:solidFill>
                  <a:srgbClr val="1E293B"/>
                </a:solidFill>
              </a:defRPr>
            </a:pPr>
            <a:r>
              <a:t>Bắt kẽ hở Force Logout trên thiết bị khác; liên kết BUG-001 &amp; BUG-003.</a:t>
            </a:r>
          </a:p>
          <a:p>
            <a:pPr>
              <a:defRPr sz="1000" b="1">
                <a:solidFill>
                  <a:srgbClr val="E11D48"/>
                </a:solidFill>
              </a:defRPr>
            </a:pPr>
            <a:r>
              <a:t>⚠️ Sai sót ban đầu:</a:t>
            </a:r>
          </a:p>
          <a:p>
            <a:pPr>
              <a:spcAft>
                <a:spcPts val="500"/>
              </a:spcAft>
              <a:defRPr sz="850">
                <a:solidFill>
                  <a:srgbClr val="1E293B"/>
                </a:solidFill>
              </a:defRPr>
            </a:pPr>
            <a:r>
              <a:t>Dùng từ ngữ quá hàn lâm (Lost Update, Redis INCR) khiến BA khó hiểu.</a:t>
            </a:r>
          </a:p>
          <a:p>
            <a:pPr>
              <a:defRPr sz="1000" b="1">
                <a:solidFill>
                  <a:srgbClr val="0958D9"/>
                </a:solidFill>
              </a:defRPr>
            </a:pPr>
            <a:r>
              <a:t>🛠️ Nắn chỉnh kỹ thuật:</a:t>
            </a:r>
          </a:p>
          <a:p>
            <a:pPr>
              <a:spcAft>
                <a:spcPts val="500"/>
              </a:spcAft>
              <a:defRPr sz="850">
                <a:solidFill>
                  <a:srgbClr val="1E293B"/>
                </a:solidFill>
              </a:defRPr>
            </a:pPr>
            <a:r>
              <a:t>Thêm user_preferences.json ghi nhớ góc nhìn BA vs SDET; bổ sung kịch bản kiểm tra Event thu hồi Token.</a:t>
            </a:r>
          </a:p>
        </p:txBody>
      </p:sp>
      <p:sp>
        <p:nvSpPr>
          <p:cNvPr id="7" name="Rounded Rectangle 6"/>
          <p:cNvSpPr/>
          <p:nvPr/>
        </p:nvSpPr>
        <p:spPr>
          <a:xfrm>
            <a:off x="4389120" y="2240280"/>
            <a:ext cx="33832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1677FF"/>
                </a:solidFill>
              </a:defRPr>
            </a:pPr>
            <a:r>
              <a:t>📦 REQ B: BÁN ÂM KHO (Inventory)</a:t>
            </a:r>
          </a:p>
          <a:p>
            <a:pPr>
              <a:spcAft>
                <a:spcPts val="600"/>
              </a:spcAft>
              <a:defRPr sz="950">
                <a:solidFill>
                  <a:srgbClr val="64748B"/>
                </a:solidFill>
              </a:defRPr>
            </a:pPr>
            <a:r>
              <a:t>Flash Sale Concurrency cao</a:t>
            </a:r>
          </a:p>
          <a:p>
            <a:pPr>
              <a:defRPr sz="1000" b="1">
                <a:solidFill>
                  <a:srgbClr val="16A34A"/>
                </a:solidFill>
              </a:defRPr>
            </a:pPr>
            <a:r>
              <a:t>✔ Điểm sáng:</a:t>
            </a:r>
          </a:p>
          <a:p>
            <a:pPr>
              <a:spcAft>
                <a:spcPts val="500"/>
              </a:spcAft>
              <a:defRPr sz="850">
                <a:solidFill>
                  <a:srgbClr val="1E293B"/>
                </a:solidFill>
              </a:defRPr>
            </a:pPr>
            <a:r>
              <a:t>Phân biệt Tồn kho vật lý vs Khả dụng; sinh test 2 user tranh mua N=1 trong ≤50ms.</a:t>
            </a:r>
          </a:p>
          <a:p>
            <a:pPr>
              <a:defRPr sz="1000" b="1">
                <a:solidFill>
                  <a:srgbClr val="E11D48"/>
                </a:solidFill>
              </a:defRPr>
            </a:pPr>
            <a:r>
              <a:t>⚠️ Sai sót ban đầu:</a:t>
            </a:r>
          </a:p>
          <a:p>
            <a:pPr>
              <a:spcAft>
                <a:spcPts val="500"/>
              </a:spcAft>
              <a:defRPr sz="850">
                <a:solidFill>
                  <a:srgbClr val="1E293B"/>
                </a:solidFill>
              </a:defRPr>
            </a:pPr>
            <a:r>
              <a:t>Gom cụm bước (chọn số lượng + checkout dồn 1 bước); verify API sơ sài.</a:t>
            </a:r>
          </a:p>
          <a:p>
            <a:pPr>
              <a:defRPr sz="1000" b="1">
                <a:solidFill>
                  <a:srgbClr val="0958D9"/>
                </a:solidFill>
              </a:defRPr>
            </a:pPr>
            <a:r>
              <a:t>🛠️ Nắn chỉnh kỹ thuật:</a:t>
            </a:r>
          </a:p>
          <a:p>
            <a:pPr>
              <a:spcAft>
                <a:spcPts val="500"/>
              </a:spcAft>
              <a:defRPr sz="850">
                <a:solidFill>
                  <a:srgbClr val="1E293B"/>
                </a:solidFill>
              </a:defRPr>
            </a:pPr>
            <a:r>
              <a:t>Đưa 3 Nguyên Tắc Vàng vào Rules cứng; viết script Styler tự động kẻ viền &amp; format Sheets.</a:t>
            </a:r>
          </a:p>
        </p:txBody>
      </p:sp>
      <p:sp>
        <p:nvSpPr>
          <p:cNvPr id="8" name="Rounded Rectangle 7"/>
          <p:cNvSpPr/>
          <p:nvPr/>
        </p:nvSpPr>
        <p:spPr>
          <a:xfrm>
            <a:off x="8046720" y="2240280"/>
            <a:ext cx="33832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1677FF"/>
                </a:solidFill>
              </a:defRPr>
            </a:pPr>
            <a:r>
              <a:t>🎟️ REQ C: VOUCHER 1 LẦN (Promo)</a:t>
            </a:r>
          </a:p>
          <a:p>
            <a:pPr>
              <a:spcAft>
                <a:spcPts val="600"/>
              </a:spcAft>
              <a:defRPr sz="950">
                <a:solidFill>
                  <a:srgbClr val="64748B"/>
                </a:solidFill>
              </a:defRPr>
            </a:pPr>
            <a:r>
              <a:t>Áp mã thanh toán giỏ hàng</a:t>
            </a:r>
          </a:p>
          <a:p>
            <a:pPr>
              <a:defRPr sz="1000" b="1">
                <a:solidFill>
                  <a:srgbClr val="16A34A"/>
                </a:solidFill>
              </a:defRPr>
            </a:pPr>
            <a:r>
              <a:t>✔ Điểm sáng:</a:t>
            </a:r>
          </a:p>
          <a:p>
            <a:pPr>
              <a:spcAft>
                <a:spcPts val="500"/>
              </a:spcAft>
              <a:defRPr sz="850">
                <a:solidFill>
                  <a:srgbClr val="1E293B"/>
                </a:solidFill>
              </a:defRPr>
            </a:pPr>
            <a:r>
              <a:t>Thiết kế Race condition ≤50ms; verify hoàn tiền rollback voucher khi hủy đơn.</a:t>
            </a:r>
          </a:p>
          <a:p>
            <a:pPr>
              <a:defRPr sz="1000" b="1">
                <a:solidFill>
                  <a:srgbClr val="E11D48"/>
                </a:solidFill>
              </a:defRPr>
            </a:pPr>
            <a:r>
              <a:t>⚠️ Sai sót ban đầu:</a:t>
            </a:r>
          </a:p>
          <a:p>
            <a:pPr>
              <a:spcAft>
                <a:spcPts val="500"/>
              </a:spcAft>
              <a:defRPr sz="850">
                <a:solidFill>
                  <a:srgbClr val="1E293B"/>
                </a:solidFill>
              </a:defRPr>
            </a:pPr>
            <a:r>
              <a:t>Format sheet chưa đẹp; chưa có cột Status Pass/Fail tiện dụng cho Tester.</a:t>
            </a:r>
          </a:p>
          <a:p>
            <a:pPr>
              <a:defRPr sz="1000" b="1">
                <a:solidFill>
                  <a:srgbClr val="0958D9"/>
                </a:solidFill>
              </a:defRPr>
            </a:pPr>
            <a:r>
              <a:t>🛠️ Nắn chỉnh kỹ thuật:</a:t>
            </a:r>
          </a:p>
          <a:p>
            <a:pPr>
              <a:spcAft>
                <a:spcPts val="500"/>
              </a:spcAft>
              <a:defRPr sz="850">
                <a:solidFill>
                  <a:srgbClr val="1E293B"/>
                </a:solidFill>
              </a:defRPr>
            </a:pPr>
            <a:r>
              <a:t>Bổ sung Dropdown Data Validation PASS/FAIL/BLOCKED/NOT_RUN và Conditional Formatting màu tự động.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5. KẾ HOẠCH TRIỂN KHAI THỰC CHIẾN</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Kế Hoạch Triển Khai Thực Chiến Trong 3 Tháng: Từng Bước Vững Chắc</a:t>
            </a:r>
          </a:p>
          <a:p>
            <a:pPr>
              <a:defRPr sz="1050">
                <a:solidFill>
                  <a:srgbClr val="64748B"/>
                </a:solidFill>
              </a:defRPr>
            </a:pPr>
            <a:r>
              <a:t>Lộ trình cụ thể để đưa hệ thống vào dự án thực tế, từ Pilot, mở rộng toàn team đến tối ưu hóa tự động.</a:t>
            </a:r>
          </a:p>
        </p:txBody>
      </p:sp>
      <p:sp>
        <p:nvSpPr>
          <p:cNvPr id="5" name="Rounded Rectangle 4"/>
          <p:cNvSpPr/>
          <p:nvPr/>
        </p:nvSpPr>
        <p:spPr>
          <a:xfrm>
            <a:off x="731520" y="160020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1677FF"/>
                </a:solidFill>
              </a:defRPr>
            </a:pPr>
            <a:r>
              <a:t>THÁNG 1: PILOT &amp; CHUẨN HÓA DỮ LIỆU</a:t>
            </a:r>
          </a:p>
          <a:p>
            <a:pPr>
              <a:spcAft>
                <a:spcPts val="800"/>
              </a:spcAft>
              <a:defRPr sz="900">
                <a:solidFill>
                  <a:srgbClr val="64748B"/>
                </a:solidFill>
              </a:defRPr>
            </a:pPr>
            <a:r>
              <a:t>Mục tiêu: Đưa vào 1 squad thử nghiệm, chuẩn hóa Rules</a:t>
            </a:r>
          </a:p>
          <a:p>
            <a:pPr>
              <a:defRPr sz="950" b="1">
                <a:solidFill>
                  <a:srgbClr val="1E293B"/>
                </a:solidFill>
              </a:defRPr>
            </a:pPr>
            <a:r>
              <a:t>📌 Tuần 1: Setup &amp; Ground Truth</a:t>
            </a:r>
          </a:p>
          <a:p>
            <a:pPr>
              <a:spcAft>
                <a:spcPts val="600"/>
              </a:spcAft>
              <a:defRPr sz="850">
                <a:solidFill>
                  <a:srgbClr val="64748B"/>
                </a:solidFill>
              </a:defRPr>
            </a:pPr>
            <a:r>
              <a:t>Triển khai Antigravity Native Plugin; nạp 10-20 bug production của dự án vào bug_repository.json.</a:t>
            </a:r>
          </a:p>
          <a:p>
            <a:pPr>
              <a:defRPr sz="950" b="1">
                <a:solidFill>
                  <a:srgbClr val="1E293B"/>
                </a:solidFill>
              </a:defRPr>
            </a:pPr>
            <a:r>
              <a:t>📌 Tuần 2: Pilot 1 Squad</a:t>
            </a:r>
          </a:p>
          <a:p>
            <a:pPr>
              <a:spcAft>
                <a:spcPts val="600"/>
              </a:spcAft>
              <a:defRPr sz="850">
                <a:solidFill>
                  <a:srgbClr val="64748B"/>
                </a:solidFill>
              </a:defRPr>
            </a:pPr>
            <a:r>
              <a:t>Áp dụng cho 1 squad kiểm thử (2 Tester + 1 BA). Chạy song song AI và thủ công để đối soát.</a:t>
            </a:r>
          </a:p>
          <a:p>
            <a:pPr>
              <a:defRPr sz="950" b="1">
                <a:solidFill>
                  <a:srgbClr val="1E293B"/>
                </a:solidFill>
              </a:defRPr>
            </a:pPr>
            <a:r>
              <a:t>📌 Tuần 3-4: Đánh Giá &amp; Nắn Chỉnh</a:t>
            </a:r>
          </a:p>
          <a:p>
            <a:pPr>
              <a:spcAft>
                <a:spcPts val="600"/>
              </a:spcAft>
              <a:defRPr sz="850">
                <a:solidFill>
                  <a:srgbClr val="64748B"/>
                </a:solidFill>
              </a:defRPr>
            </a:pPr>
            <a:r>
              <a:t>Đo lường độ chính xác Semantic Accuracy. Bổ sung các quy tắc nghiệp vụ đặc thù của công ty vào Rules.</a:t>
            </a:r>
          </a:p>
        </p:txBody>
      </p:sp>
      <p:sp>
        <p:nvSpPr>
          <p:cNvPr id="6" name="Rounded Rectangle 5"/>
          <p:cNvSpPr/>
          <p:nvPr/>
        </p:nvSpPr>
        <p:spPr>
          <a:xfrm>
            <a:off x="4389120" y="160020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0D9488"/>
                </a:solidFill>
              </a:defRPr>
            </a:pPr>
            <a:r>
              <a:t>THÁNG 2: MỞ RỘNG TOÀN DỰ ÁN &amp; CI/CD</a:t>
            </a:r>
          </a:p>
          <a:p>
            <a:pPr>
              <a:spcAft>
                <a:spcPts val="800"/>
              </a:spcAft>
              <a:defRPr sz="900">
                <a:solidFill>
                  <a:srgbClr val="64748B"/>
                </a:solidFill>
              </a:defRPr>
            </a:pPr>
            <a:r>
              <a:t>Mục tiêu: Đào tạo toàn bộ QA Team &amp; kết nối pipeline</a:t>
            </a:r>
          </a:p>
          <a:p>
            <a:pPr>
              <a:defRPr sz="950" b="1">
                <a:solidFill>
                  <a:srgbClr val="1E293B"/>
                </a:solidFill>
              </a:defRPr>
            </a:pPr>
            <a:r>
              <a:t>📌 Tuần 5-6: Workshop Đào Tạo QA</a:t>
            </a:r>
          </a:p>
          <a:p>
            <a:pPr>
              <a:spcAft>
                <a:spcPts val="600"/>
              </a:spcAft>
              <a:defRPr sz="850">
                <a:solidFill>
                  <a:srgbClr val="64748B"/>
                </a:solidFill>
              </a:defRPr>
            </a:pPr>
            <a:r>
              <a:t>Hướng dẫn đội ngũ Tester cách review phân tích Pha 1, kiểm duyệt kịch bản Pha 2 và sử dụng Google Sheets.</a:t>
            </a:r>
          </a:p>
          <a:p>
            <a:pPr>
              <a:defRPr sz="950" b="1">
                <a:solidFill>
                  <a:srgbClr val="1E293B"/>
                </a:solidFill>
              </a:defRPr>
            </a:pPr>
            <a:r>
              <a:t>📌 Tuần 7: Tích Hợp Jira / Confluence</a:t>
            </a:r>
          </a:p>
          <a:p>
            <a:pPr>
              <a:spcAft>
                <a:spcPts val="600"/>
              </a:spcAft>
              <a:defRPr sz="850">
                <a:solidFill>
                  <a:srgbClr val="64748B"/>
                </a:solidFill>
              </a:defRPr>
            </a:pPr>
            <a:r>
              <a:t>Kết nối tự động kéo User Story từ Jira và đẩy kết quả phân tích ngược lại Ticket.</a:t>
            </a:r>
          </a:p>
          <a:p>
            <a:pPr>
              <a:defRPr sz="950" b="1">
                <a:solidFill>
                  <a:srgbClr val="1E293B"/>
                </a:solidFill>
              </a:defRPr>
            </a:pPr>
            <a:r>
              <a:t>📌 Tuần 8: Tự Động Hóa 50% Test</a:t>
            </a:r>
          </a:p>
          <a:p>
            <a:pPr>
              <a:spcAft>
                <a:spcPts val="600"/>
              </a:spcAft>
              <a:defRPr sz="850">
                <a:solidFill>
                  <a:srgbClr val="64748B"/>
                </a:solidFill>
              </a:defRPr>
            </a:pPr>
            <a:r>
              <a:t>Chuyển giao các test case đã tách bước sang Playwright E2E để tự động chạy trên CI/CD.</a:t>
            </a:r>
          </a:p>
        </p:txBody>
      </p:sp>
      <p:sp>
        <p:nvSpPr>
          <p:cNvPr id="7" name="Rounded Rectangle 6"/>
          <p:cNvSpPr/>
          <p:nvPr/>
        </p:nvSpPr>
        <p:spPr>
          <a:xfrm>
            <a:off x="8046720" y="160020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16A34A"/>
                </a:solidFill>
              </a:defRPr>
            </a:pPr>
            <a:r>
              <a:t>THÁNG 3: ĐO LƯỜNG HIỆU QUẢ &amp; TỰ ĐỘNG HÓA</a:t>
            </a:r>
          </a:p>
          <a:p>
            <a:pPr>
              <a:spcAft>
                <a:spcPts val="800"/>
              </a:spcAft>
              <a:defRPr sz="900">
                <a:solidFill>
                  <a:srgbClr val="64748B"/>
                </a:solidFill>
              </a:defRPr>
            </a:pPr>
            <a:r>
              <a:t>Mục tiêu: Hoàn thiện quy trình tự động hóa kiểm thử &amp; Giảm 50% Defect</a:t>
            </a:r>
          </a:p>
          <a:p>
            <a:pPr>
              <a:defRPr sz="950" b="1">
                <a:solidFill>
                  <a:srgbClr val="1E293B"/>
                </a:solidFill>
              </a:defRPr>
            </a:pPr>
            <a:r>
              <a:t>📌 Tuần 9-10: Tự Nắn Chỉnh Mô Hình</a:t>
            </a:r>
          </a:p>
          <a:p>
            <a:pPr>
              <a:spcAft>
                <a:spcPts val="600"/>
              </a:spcAft>
              <a:defRPr sz="850">
                <a:solidFill>
                  <a:srgbClr val="64748B"/>
                </a:solidFill>
              </a:defRPr>
            </a:pPr>
            <a:r>
              <a:t>Xây dựng cơ chế tự động học từ các lỗi Tester sửa trên Sheets để cập nhật lại bug repository.</a:t>
            </a:r>
          </a:p>
          <a:p>
            <a:pPr>
              <a:defRPr sz="950" b="1">
                <a:solidFill>
                  <a:srgbClr val="1E293B"/>
                </a:solidFill>
              </a:defRPr>
            </a:pPr>
            <a:r>
              <a:t>📌 Tuần 11: Đo Lường Hiệu Quả (ROI)</a:t>
            </a:r>
          </a:p>
          <a:p>
            <a:pPr>
              <a:spcAft>
                <a:spcPts val="600"/>
              </a:spcAft>
              <a:defRPr sz="850">
                <a:solidFill>
                  <a:srgbClr val="64748B"/>
                </a:solidFill>
              </a:defRPr>
            </a:pPr>
            <a:r>
              <a:t>Tổng hợp dữ liệu: Rút ngắn thời gian chuẩn bị kịch bản; Số lỗi lọt sang UAT giảm 50%.</a:t>
            </a:r>
          </a:p>
          <a:p>
            <a:pPr>
              <a:defRPr sz="950" b="1">
                <a:solidFill>
                  <a:srgbClr val="1E293B"/>
                </a:solidFill>
              </a:defRPr>
            </a:pPr>
            <a:r>
              <a:t>📌 Tuần 12: Báo Cáo Ban Lãnh Đạo</a:t>
            </a:r>
          </a:p>
          <a:p>
            <a:pPr>
              <a:spcAft>
                <a:spcPts val="600"/>
              </a:spcAft>
              <a:defRPr sz="850">
                <a:solidFill>
                  <a:srgbClr val="64748B"/>
                </a:solidFill>
              </a:defRPr>
            </a:pPr>
            <a:r>
              <a:t>Trình bày báo cáo ROI toàn diện và đề xuất mở rộng mô hình cho các dự án khác.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6. CAM KẾT &amp; KẾT LUẬN</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Cam Kết Thực Thi &amp; Sẵn Sàng Đồng Hành Cùng Doanh Nghiệp</a:t>
            </a:r>
          </a:p>
          <a:p>
            <a:pPr>
              <a:defRPr sz="1050">
                <a:solidFill>
                  <a:srgbClr val="64748B"/>
                </a:solidFill>
              </a:defRPr>
            </a:pPr>
            <a:r>
              <a:t>Tổng kết giá trị cốt lõi và khẳng định tính sẵn sàng triển khai ngay từ ngày đầu tiên nhận việc.</a:t>
            </a:r>
          </a:p>
        </p:txBody>
      </p:sp>
      <p:sp>
        <p:nvSpPr>
          <p:cNvPr id="5" name="Rounded Rectangle 4"/>
          <p:cNvSpPr/>
          <p:nvPr/>
        </p:nvSpPr>
        <p:spPr>
          <a:xfrm>
            <a:off x="731520" y="1600200"/>
            <a:ext cx="33832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1677FF"/>
                </a:solidFill>
              </a:defRPr>
            </a:pPr>
            <a:r>
              <a:t>🎯 NĂNG LỰC THỰC CHIẾN</a:t>
            </a:r>
          </a:p>
          <a:p>
            <a:pPr>
              <a:spcAft>
                <a:spcPts val="800"/>
              </a:spcAft>
              <a:defRPr sz="950">
                <a:solidFill>
                  <a:srgbClr val="1E293B"/>
                </a:solidFill>
              </a:defRPr>
            </a:pPr>
            <a:r>
              <a:t>Không chỉ nói lý thuyết suông — Đã xây dựng hoàn chỉnh Plugin, State Machine, Rules, Script và đồng bộ Google Workspace sẵn sàng hoạt động.</a:t>
            </a:r>
          </a:p>
          <a:p>
            <a:pPr>
              <a:spcAft>
                <a:spcPts val="300"/>
              </a:spcAft>
              <a:defRPr sz="900">
                <a:solidFill>
                  <a:srgbClr val="64748B"/>
                </a:solidFill>
              </a:defRPr>
            </a:pPr>
            <a:r>
              <a:t>• Đã kiểm chứng qua 3 bài toán khó (Auth, Kho, Voucher)</a:t>
            </a:r>
          </a:p>
          <a:p>
            <a:pPr>
              <a:spcAft>
                <a:spcPts val="300"/>
              </a:spcAft>
              <a:defRPr sz="900">
                <a:solidFill>
                  <a:srgbClr val="64748B"/>
                </a:solidFill>
              </a:defRPr>
            </a:pPr>
            <a:r>
              <a:t>• Hiểu sâu kiến trúc Microservices &amp; Distributed System</a:t>
            </a:r>
          </a:p>
          <a:p>
            <a:pPr>
              <a:spcAft>
                <a:spcPts val="300"/>
              </a:spcAft>
              <a:defRPr sz="900">
                <a:solidFill>
                  <a:srgbClr val="64748B"/>
                </a:solidFill>
              </a:defRPr>
            </a:pPr>
            <a:r>
              <a:t>• Tự động hóa E2E từ Spec đến Google Sheets</a:t>
            </a:r>
          </a:p>
        </p:txBody>
      </p:sp>
      <p:sp>
        <p:nvSpPr>
          <p:cNvPr id="6" name="Rounded Rectangle 5"/>
          <p:cNvSpPr/>
          <p:nvPr/>
        </p:nvSpPr>
        <p:spPr>
          <a:xfrm>
            <a:off x="4389120" y="1600200"/>
            <a:ext cx="33832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0D9488"/>
                </a:solidFill>
              </a:defRPr>
            </a:pPr>
            <a:r>
              <a:t>🤝 TINH THẦN ĐỒNG HÀNH</a:t>
            </a:r>
          </a:p>
          <a:p>
            <a:pPr>
              <a:spcAft>
                <a:spcPts val="800"/>
              </a:spcAft>
              <a:defRPr sz="950">
                <a:solidFill>
                  <a:srgbClr val="1E293B"/>
                </a:solidFill>
              </a:defRPr>
            </a:pPr>
            <a:r>
              <a:t>Xem AI là trợ thủ đắc lực nâng tầm con người chứ không phải công cụ thay thế. Giúp đội ngũ QA hiện tại tăng trưởng kỹ năng và năng lực kiểm soát.</a:t>
            </a:r>
          </a:p>
          <a:p>
            <a:pPr>
              <a:spcAft>
                <a:spcPts val="300"/>
              </a:spcAft>
              <a:defRPr sz="900">
                <a:solidFill>
                  <a:srgbClr val="64748B"/>
                </a:solidFill>
              </a:defRPr>
            </a:pPr>
            <a:r>
              <a:t>• Đào tạo, chuyển giao tri thức tận tâm cho đồng nghiệp</a:t>
            </a:r>
          </a:p>
          <a:p>
            <a:pPr>
              <a:spcAft>
                <a:spcPts val="300"/>
              </a:spcAft>
              <a:defRPr sz="900">
                <a:solidFill>
                  <a:srgbClr val="64748B"/>
                </a:solidFill>
              </a:defRPr>
            </a:pPr>
            <a:r>
              <a:t>• Lắng nghe phản hồi từ BA/PO/Dev để hoàn thiện quy trình</a:t>
            </a:r>
          </a:p>
          <a:p>
            <a:pPr>
              <a:spcAft>
                <a:spcPts val="300"/>
              </a:spcAft>
              <a:defRPr sz="900">
                <a:solidFill>
                  <a:srgbClr val="64748B"/>
                </a:solidFill>
              </a:defRPr>
            </a:pPr>
            <a:r>
              <a:t>• Tinh thần trách nhiệm cao nhất với chất lượng release</a:t>
            </a:r>
          </a:p>
        </p:txBody>
      </p:sp>
      <p:sp>
        <p:nvSpPr>
          <p:cNvPr id="7" name="Rounded Rectangle 6"/>
          <p:cNvSpPr/>
          <p:nvPr/>
        </p:nvSpPr>
        <p:spPr>
          <a:xfrm>
            <a:off x="8046720" y="1600200"/>
            <a:ext cx="33832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16A34A"/>
                </a:solidFill>
              </a:defRPr>
            </a:pPr>
            <a:r>
              <a:t>📈 CAM KẾT HIỆU QUẢ RÕ RÀNG</a:t>
            </a:r>
          </a:p>
          <a:p>
            <a:pPr>
              <a:spcAft>
                <a:spcPts val="800"/>
              </a:spcAft>
              <a:defRPr sz="950">
                <a:solidFill>
                  <a:srgbClr val="1E293B"/>
                </a:solidFill>
              </a:defRPr>
            </a:pPr>
            <a:r>
              <a:t>Mang lại giá trị đo đếm được ngay trong tháng đầu tiên và tối ưu hóa chi phí vận hành cho toàn bộ tổ chức.</a:t>
            </a:r>
          </a:p>
          <a:p>
            <a:pPr>
              <a:spcAft>
                <a:spcPts val="300"/>
              </a:spcAft>
              <a:defRPr sz="900">
                <a:solidFill>
                  <a:srgbClr val="64748B"/>
                </a:solidFill>
              </a:defRPr>
            </a:pPr>
            <a:r>
              <a:t>• Rút ngắn thời gian chuẩn bị test suite hoàn chỉnh</a:t>
            </a:r>
          </a:p>
          <a:p>
            <a:pPr>
              <a:spcAft>
                <a:spcPts val="300"/>
              </a:spcAft>
              <a:defRPr sz="900">
                <a:solidFill>
                  <a:srgbClr val="64748B"/>
                </a:solidFill>
              </a:defRPr>
            </a:pPr>
            <a:r>
              <a:t>• Độ chính xác dữ liệu kiểm thử đạt &gt;= 92%</a:t>
            </a:r>
          </a:p>
          <a:p>
            <a:pPr>
              <a:spcAft>
                <a:spcPts val="300"/>
              </a:spcAft>
              <a:defRPr sz="900">
                <a:solidFill>
                  <a:srgbClr val="64748B"/>
                </a:solidFill>
              </a:defRPr>
            </a:pPr>
            <a:r>
              <a:t>• Giảm 50% lỗi lọt sang môi trường Production</a:t>
            </a:r>
          </a:p>
        </p:txBody>
      </p:sp>
      <p:sp>
        <p:nvSpPr>
          <p:cNvPr id="8" name="Rounded Rectangle 7"/>
          <p:cNvSpPr/>
          <p:nvPr/>
        </p:nvSpPr>
        <p:spPr>
          <a:xfrm>
            <a:off x="731520" y="5623560"/>
            <a:ext cx="10698480" cy="777240"/>
          </a:xfrm>
          <a:prstGeom prst="roundRect">
            <a:avLst/>
          </a:prstGeom>
          <a:solidFill>
            <a:srgbClr val="E6F4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958D9"/>
                </a:solidFill>
              </a:defRPr>
            </a:pPr>
            <a:r>
              <a:t>💬 "Tôi không thay thế tester bằng AI — Tôi biến mỗi tester thành một Super QA có năng lực phân tích sâu, làm chủ công nghệ và kiểm soát chất lượng toàn diện!"</a:t>
            </a:r>
          </a:p>
          <a:p>
            <a:pPr algn="ctr">
              <a:defRPr sz="1000">
                <a:solidFill>
                  <a:srgbClr val="1677FF"/>
                </a:solidFill>
              </a:defRPr>
            </a:pPr>
            <a:r>
              <a:t>Sẵn sàng cống hiến và đồng hành cùng quý công ty ngay từ tuần đầu tiên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